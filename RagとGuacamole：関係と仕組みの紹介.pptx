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1" r:id="rId4"/>
    <p:sldId id="277" r:id="rId5"/>
    <p:sldId id="263" r:id="rId6"/>
    <p:sldId id="267" r:id="rId7"/>
    <p:sldId id="271" r:id="rId8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219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A8CC4-7C02-A241-14AE-65393DB04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05F35-3DA7-876D-1968-55D11E9ACF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58C95-0C20-B9D4-F957-1A450C1CC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A7BE5-889E-9F77-A6B6-441C32B28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87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11081385" y="1593850"/>
            <a:ext cx="377825" cy="121285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854700" y="4171949"/>
            <a:ext cx="2468206" cy="4863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r>
              <a:rPr lang="en-US" altLang="ja-JP" dirty="0"/>
              <a:t>OSK</a:t>
            </a:r>
            <a:r>
              <a:rPr lang="ja-JP" altLang="en-US" dirty="0"/>
              <a:t>陳世杰</a:t>
            </a:r>
            <a:endParaRPr lang="zh-CN" altLang="en-US" dirty="0"/>
          </a:p>
        </p:txBody>
      </p:sp>
      <p:sp>
        <p:nvSpPr>
          <p:cNvPr id="6" name="Text 1"/>
          <p:cNvSpPr/>
          <p:nvPr/>
        </p:nvSpPr>
        <p:spPr>
          <a:xfrm>
            <a:off x="3922395" y="4117975"/>
            <a:ext cx="1932305" cy="3314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90000"/>
              </a:lnSpc>
            </a:pP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512445" y="4137025"/>
            <a:ext cx="2553335" cy="3663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90000"/>
              </a:lnSpc>
            </a:pPr>
            <a:endParaRPr lang="en-US" sz="1600" dirty="0"/>
          </a:p>
        </p:txBody>
      </p:sp>
      <p:pic>
        <p:nvPicPr>
          <p:cNvPr id="10" name="Image 4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395595" y="0"/>
            <a:ext cx="624840" cy="2007235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9-05-18:06:11-d2tbc4tnfo2stf9dj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7206615" y="5784850"/>
            <a:ext cx="377825" cy="1212850"/>
          </a:xfrm>
          <a:prstGeom prst="rect">
            <a:avLst/>
          </a:prstGeom>
        </p:spPr>
      </p:pic>
      <p:pic>
        <p:nvPicPr>
          <p:cNvPr id="12" name="Image 6" descr="https://kimi-img.moonshot.cn/pub/slides/slides_tmpl/image/25-09-05-18:06:11-d2tbc4tnfo2stf9djot0.png"/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626745" y="1224280"/>
            <a:ext cx="880110" cy="880110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60D9E227-AE64-B09F-1ECB-FAEFCA1F8C1A}"/>
              </a:ext>
            </a:extLst>
          </p:cNvPr>
          <p:cNvSpPr/>
          <p:nvPr/>
        </p:nvSpPr>
        <p:spPr>
          <a:xfrm>
            <a:off x="1249565" y="2741364"/>
            <a:ext cx="10590846" cy="76944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ja-JP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</a:t>
            </a:r>
            <a:r>
              <a:rPr lang="ja-JP" altLang="en-US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と</a:t>
            </a:r>
            <a:r>
              <a:rPr lang="en-US" altLang="ja-JP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Guacamole</a:t>
            </a:r>
            <a:r>
              <a:rPr lang="ja-JP" altLang="en-US" sz="4400" b="1" dirty="0">
                <a:solidFill>
                  <a:srgbClr val="2F5BE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：関係と機能の紹介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416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/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60400" y="1524000"/>
            <a:ext cx="11506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 err="1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Ragとは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660400" y="2133600"/>
            <a:ext cx="1139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社内サーバへの安全なリモートアクセスを、ブラウザだけで実現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1206500" y="284480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独自開発のゲートウェイ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1206500" y="3149600"/>
            <a:ext cx="375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Apache Guacamoleをベースに、当社のニーズに合わせてカスタマイズを加えました。</a:t>
            </a:r>
            <a:endParaRPr lang="en-US" sz="1600" dirty="0"/>
          </a:p>
        </p:txBody>
      </p:sp>
      <p:sp>
        <p:nvSpPr>
          <p:cNvPr id="14" name="Shape 7"/>
          <p:cNvSpPr/>
          <p:nvPr/>
        </p:nvSpPr>
        <p:spPr>
          <a:xfrm>
            <a:off x="4668520" y="447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8"/>
          <p:cNvSpPr/>
          <p:nvPr/>
        </p:nvSpPr>
        <p:spPr>
          <a:xfrm>
            <a:off x="6645910" y="2743200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セキュリティと利便性の両立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6752589" y="3175000"/>
            <a:ext cx="375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クライアントソフト不要で、社内外から安全かつ簡便にサーバアクセスが可能です。</a:t>
            </a:r>
            <a:endParaRPr lang="en-US" sz="16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5B6F4A07-0445-490C-E46D-8176F452FF02}"/>
              </a:ext>
            </a:extLst>
          </p:cNvPr>
          <p:cNvSpPr/>
          <p:nvPr/>
        </p:nvSpPr>
        <p:spPr>
          <a:xfrm>
            <a:off x="1193799" y="4445000"/>
            <a:ext cx="4235795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マルチプロトコルリモートターゲットの接続</a:t>
            </a: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12F84310-C241-B4E4-3B6B-B5E6B0BCE704}"/>
              </a:ext>
            </a:extLst>
          </p:cNvPr>
          <p:cNvSpPr/>
          <p:nvPr/>
        </p:nvSpPr>
        <p:spPr>
          <a:xfrm>
            <a:off x="1193800" y="4749800"/>
            <a:ext cx="3759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ja-JP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RDP</a:t>
            </a:r>
            <a:r>
              <a:rPr lang="ja-JP" alt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altLang="ja-JP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SSH</a:t>
            </a:r>
            <a:r>
              <a:rPr lang="ja-JP" alt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r>
              <a:rPr lang="en-US" altLang="ja-JP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HTTP(</a:t>
            </a:r>
            <a:r>
              <a:rPr lang="en-US" altLang="ja-JP" sz="14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WebSSO</a:t>
            </a:r>
            <a:r>
              <a:rPr lang="en-US" altLang="ja-JP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)</a:t>
            </a:r>
            <a:endParaRPr lang="en-US" sz="16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BE212DA6-2923-67A4-6DFD-6F8022BCB5D4}"/>
              </a:ext>
            </a:extLst>
          </p:cNvPr>
          <p:cNvSpPr/>
          <p:nvPr/>
        </p:nvSpPr>
        <p:spPr>
          <a:xfrm>
            <a:off x="6627495" y="4330383"/>
            <a:ext cx="377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その他機能</a:t>
            </a: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0E299559-0FE6-AA12-F585-01A8495D7CED}"/>
              </a:ext>
            </a:extLst>
          </p:cNvPr>
          <p:cNvSpPr/>
          <p:nvPr/>
        </p:nvSpPr>
        <p:spPr>
          <a:xfrm>
            <a:off x="6627495" y="4665708"/>
            <a:ext cx="4529454" cy="1435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ja-JP" altLang="en-US" sz="1600" dirty="0"/>
              <a:t>　</a:t>
            </a:r>
            <a:r>
              <a:rPr lang="en-US" altLang="ja-JP" sz="1600" dirty="0"/>
              <a:t>- </a:t>
            </a:r>
            <a:r>
              <a:rPr lang="ja-JP" altLang="en-US" sz="1600" dirty="0"/>
              <a:t>セッション管理</a:t>
            </a:r>
            <a:endParaRPr lang="en-US" altLang="ja-JP" sz="1600" dirty="0"/>
          </a:p>
          <a:p>
            <a:pPr>
              <a:lnSpc>
                <a:spcPct val="120000"/>
              </a:lnSpc>
            </a:pPr>
            <a:r>
              <a:rPr lang="ja-JP" altLang="en-US" sz="1600" dirty="0"/>
              <a:t>　　　・接続の共有</a:t>
            </a:r>
            <a:endParaRPr lang="en-US" altLang="ja-JP" sz="1600" dirty="0"/>
          </a:p>
          <a:p>
            <a:pPr>
              <a:lnSpc>
                <a:spcPct val="120000"/>
              </a:lnSpc>
            </a:pPr>
            <a:r>
              <a:rPr lang="ja-JP" altLang="en-US" sz="1600" dirty="0"/>
              <a:t>　　　・接続の切断</a:t>
            </a:r>
            <a:br>
              <a:rPr lang="en-US" altLang="ja-JP" sz="1600" dirty="0"/>
            </a:br>
            <a:r>
              <a:rPr lang="en-US" altLang="ja-JP" sz="1600" dirty="0"/>
              <a:t>     - </a:t>
            </a:r>
            <a:r>
              <a:rPr lang="ja-JP" altLang="en-US" sz="1600" dirty="0"/>
              <a:t>ファイルアップロードとダウンロード</a:t>
            </a:r>
            <a:endParaRPr lang="en-US" altLang="ja-JP" sz="1600" dirty="0"/>
          </a:p>
          <a:p>
            <a:pPr>
              <a:lnSpc>
                <a:spcPct val="120000"/>
              </a:lnSpc>
            </a:pPr>
            <a:r>
              <a:rPr lang="en-US" altLang="ja-JP" sz="1600" dirty="0"/>
              <a:t>     - </a:t>
            </a:r>
            <a:r>
              <a:rPr lang="ja-JP" altLang="en-US" sz="1600" dirty="0"/>
              <a:t>録画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58750" y="14224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基盤技術：Apache Guacamole</a:t>
            </a:r>
            <a:endParaRPr lang="en-US" sz="1600" dirty="0"/>
          </a:p>
        </p:txBody>
      </p:sp>
      <p:sp>
        <p:nvSpPr>
          <p:cNvPr id="8" name="Text 1"/>
          <p:cNvSpPr/>
          <p:nvPr/>
        </p:nvSpPr>
        <p:spPr>
          <a:xfrm>
            <a:off x="203200" y="1981200"/>
            <a:ext cx="1178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ブラウザだけでリモートデスクトップにアクセスできるオープンソースのゲートウェイ</a:t>
            </a:r>
            <a:endParaRPr lang="en-US" sz="1600" dirty="0"/>
          </a:p>
        </p:txBody>
      </p:sp>
      <p:sp>
        <p:nvSpPr>
          <p:cNvPr id="12" name="Text 5"/>
          <p:cNvSpPr/>
          <p:nvPr/>
        </p:nvSpPr>
        <p:spPr>
          <a:xfrm>
            <a:off x="1676400" y="2895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クライアントレス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1676400" y="32004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追加ソフトウェア不要で、ブラウザから直接接続可能。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264400" y="2895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マルチプロトコル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7264400" y="32004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RDP、VNC、SSH、Telnet、SFTPなどをサポート。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676400" y="4419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マルチユーザ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1676400" y="47244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セッションを安定して隔離し、複数ユーザの同時接続に対応。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7264400" y="4419600"/>
            <a:ext cx="416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ログ記録・制御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7264400" y="4724400"/>
            <a:ext cx="4152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操作ログの記録や細やかなアクセス制御機能を備える。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5861-6781-FC24-192C-6051C787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03B0CEE3-F593-E53E-1F2C-1502B415C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>
            <a:extLst>
              <a:ext uri="{FF2B5EF4-FFF2-40B4-BE49-F238E27FC236}">
                <a16:creationId xmlns:a16="http://schemas.microsoft.com/office/drawing/2014/main" id="{AEFAD8C5-5D39-0035-734A-53BFCB931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>
            <a:extLst>
              <a:ext uri="{FF2B5EF4-FFF2-40B4-BE49-F238E27FC236}">
                <a16:creationId xmlns:a16="http://schemas.microsoft.com/office/drawing/2014/main" id="{2EA43608-F227-D10D-3B6D-B3F1F164C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265568B6-D160-3D34-680A-6B07C9AF3B20}"/>
              </a:ext>
            </a:extLst>
          </p:cNvPr>
          <p:cNvSpPr/>
          <p:nvPr/>
        </p:nvSpPr>
        <p:spPr>
          <a:xfrm>
            <a:off x="-330027" y="969347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Guacamole</a:t>
            </a: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の</a:t>
            </a:r>
            <a:r>
              <a:rPr lang="zh-CN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仕組</a:t>
            </a: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み／</a:t>
            </a:r>
            <a:r>
              <a:rPr lang="zh-CN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構成</a:t>
            </a:r>
            <a:endParaRPr lang="en-US" sz="1600" dirty="0"/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E5F3693E-9CE7-030C-B9BE-D3142C2A8906}"/>
              </a:ext>
            </a:extLst>
          </p:cNvPr>
          <p:cNvSpPr/>
          <p:nvPr/>
        </p:nvSpPr>
        <p:spPr>
          <a:xfrm>
            <a:off x="977900" y="46736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CC19A271-4649-C4DF-D66B-B69D448F2361}"/>
              </a:ext>
            </a:extLst>
          </p:cNvPr>
          <p:cNvSpPr/>
          <p:nvPr/>
        </p:nvSpPr>
        <p:spPr>
          <a:xfrm>
            <a:off x="6642100" y="4673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85380" y="19050"/>
                </a:moveTo>
                <a:lnTo>
                  <a:pt x="190500" y="19050"/>
                </a:lnTo>
                <a:cubicBezTo>
                  <a:pt x="211515" y="19050"/>
                  <a:pt x="228600" y="36135"/>
                  <a:pt x="228600" y="571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57150"/>
                </a:lnTo>
                <a:cubicBezTo>
                  <a:pt x="0" y="36135"/>
                  <a:pt x="17085" y="19050"/>
                  <a:pt x="38100" y="19050"/>
                </a:cubicBezTo>
                <a:lnTo>
                  <a:pt x="43220" y="19050"/>
                </a:lnTo>
                <a:cubicBezTo>
                  <a:pt x="49768" y="7680"/>
                  <a:pt x="62091" y="0"/>
                  <a:pt x="76200" y="0"/>
                </a:cubicBezTo>
                <a:lnTo>
                  <a:pt x="152400" y="0"/>
                </a:lnTo>
                <a:cubicBezTo>
                  <a:pt x="166509" y="0"/>
                  <a:pt x="178832" y="7680"/>
                  <a:pt x="185380" y="19050"/>
                </a:cubicBezTo>
                <a:close/>
                <a:moveTo>
                  <a:pt x="147638" y="66675"/>
                </a:moveTo>
                <a:cubicBezTo>
                  <a:pt x="155555" y="66675"/>
                  <a:pt x="161925" y="60305"/>
                  <a:pt x="161925" y="52388"/>
                </a:cubicBezTo>
                <a:cubicBezTo>
                  <a:pt x="161925" y="44470"/>
                  <a:pt x="155555" y="38100"/>
                  <a:pt x="147638" y="38100"/>
                </a:cubicBezTo>
                <a:lnTo>
                  <a:pt x="80962" y="38100"/>
                </a:lnTo>
                <a:cubicBezTo>
                  <a:pt x="73045" y="38100"/>
                  <a:pt x="66675" y="44470"/>
                  <a:pt x="66675" y="52388"/>
                </a:cubicBezTo>
                <a:cubicBezTo>
                  <a:pt x="66675" y="60305"/>
                  <a:pt x="73045" y="66675"/>
                  <a:pt x="80962" y="66675"/>
                </a:cubicBezTo>
                <a:lnTo>
                  <a:pt x="147638" y="66675"/>
                </a:lnTo>
                <a:close/>
                <a:moveTo>
                  <a:pt x="76200" y="152400"/>
                </a:move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ubicBezTo>
                  <a:pt x="67664" y="171450"/>
                  <a:pt x="76200" y="162914"/>
                  <a:pt x="76200" y="152400"/>
                </a:cubicBezTo>
                <a:close/>
                <a:moveTo>
                  <a:pt x="95250" y="152400"/>
                </a:moveTo>
                <a:cubicBezTo>
                  <a:pt x="95250" y="160318"/>
                  <a:pt x="101620" y="166688"/>
                  <a:pt x="109537" y="166688"/>
                </a:cubicBezTo>
                <a:lnTo>
                  <a:pt x="176212" y="166688"/>
                </a:lnTo>
                <a:cubicBezTo>
                  <a:pt x="184130" y="166688"/>
                  <a:pt x="190500" y="160318"/>
                  <a:pt x="190500" y="152400"/>
                </a:cubicBezTo>
                <a:cubicBezTo>
                  <a:pt x="190500" y="144482"/>
                  <a:pt x="184130" y="138113"/>
                  <a:pt x="176212" y="138113"/>
                </a:cubicBezTo>
                <a:lnTo>
                  <a:pt x="109537" y="138113"/>
                </a:lnTo>
                <a:cubicBezTo>
                  <a:pt x="101620" y="138113"/>
                  <a:pt x="95250" y="144482"/>
                  <a:pt x="95250" y="152400"/>
                </a:cubicBezTo>
                <a:close/>
                <a:moveTo>
                  <a:pt x="95250" y="228600"/>
                </a:moveTo>
                <a:cubicBezTo>
                  <a:pt x="95250" y="236518"/>
                  <a:pt x="101620" y="242888"/>
                  <a:pt x="109537" y="242888"/>
                </a:cubicBezTo>
                <a:lnTo>
                  <a:pt x="176212" y="242888"/>
                </a:lnTo>
                <a:cubicBezTo>
                  <a:pt x="184130" y="242888"/>
                  <a:pt x="190500" y="236518"/>
                  <a:pt x="190500" y="228600"/>
                </a:cubicBezTo>
                <a:cubicBezTo>
                  <a:pt x="190500" y="220682"/>
                  <a:pt x="184130" y="214313"/>
                  <a:pt x="176212" y="214313"/>
                </a:cubicBezTo>
                <a:lnTo>
                  <a:pt x="109537" y="214313"/>
                </a:lnTo>
                <a:cubicBezTo>
                  <a:pt x="101620" y="214313"/>
                  <a:pt x="95250" y="220682"/>
                  <a:pt x="95250" y="228600"/>
                </a:cubicBezTo>
                <a:close/>
                <a:moveTo>
                  <a:pt x="57150" y="247650"/>
                </a:moveTo>
                <a:cubicBezTo>
                  <a:pt x="67664" y="247650"/>
                  <a:pt x="76200" y="239114"/>
                  <a:pt x="76200" y="228600"/>
                </a:cubicBezTo>
                <a:cubicBezTo>
                  <a:pt x="76200" y="218086"/>
                  <a:pt x="67664" y="209550"/>
                  <a:pt x="57150" y="209550"/>
                </a:cubicBezTo>
                <a:cubicBezTo>
                  <a:pt x="46636" y="209550"/>
                  <a:pt x="38100" y="218086"/>
                  <a:pt x="38100" y="228600"/>
                </a:cubicBezTo>
                <a:cubicBezTo>
                  <a:pt x="38100" y="239114"/>
                  <a:pt x="46636" y="247650"/>
                  <a:pt x="57150" y="2476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29C80A3-F6F5-F6AB-5DA2-010AC0476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1652101"/>
            <a:ext cx="3209731" cy="5065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hape 7">
            <a:extLst>
              <a:ext uri="{FF2B5EF4-FFF2-40B4-BE49-F238E27FC236}">
                <a16:creationId xmlns:a16="http://schemas.microsoft.com/office/drawing/2014/main" id="{173BCA63-9A70-DCE3-1886-AC1E8EBA3DE7}"/>
              </a:ext>
            </a:extLst>
          </p:cNvPr>
          <p:cNvSpPr/>
          <p:nvPr/>
        </p:nvSpPr>
        <p:spPr>
          <a:xfrm>
            <a:off x="4552042" y="2331868"/>
            <a:ext cx="5283200" cy="737652"/>
          </a:xfrm>
          <a:custGeom>
            <a:avLst/>
            <a:gdLst/>
            <a:ahLst/>
            <a:cxnLst/>
            <a:rect l="l" t="t" r="r" b="b"/>
            <a:pathLst>
              <a:path w="5283200" h="1219200">
                <a:moveTo>
                  <a:pt x="101596" y="0"/>
                </a:moveTo>
                <a:lnTo>
                  <a:pt x="5181604" y="0"/>
                </a:lnTo>
                <a:cubicBezTo>
                  <a:pt x="5237714" y="0"/>
                  <a:pt x="5283200" y="45486"/>
                  <a:pt x="5283200" y="101596"/>
                </a:cubicBezTo>
                <a:lnTo>
                  <a:pt x="5283200" y="1117604"/>
                </a:lnTo>
                <a:cubicBezTo>
                  <a:pt x="5283200" y="1173714"/>
                  <a:pt x="5237714" y="1219200"/>
                  <a:pt x="5181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068DB">
              <a:alpha val="10196"/>
            </a:srgbClr>
          </a:solidFill>
          <a:ln/>
        </p:spPr>
        <p:txBody>
          <a:bodyPr/>
          <a:lstStyle/>
          <a:p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ユーザーは </a:t>
            </a:r>
            <a:r>
              <a:rPr lang="en-US" altLang="ja-JP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Web</a:t>
            </a:r>
            <a:r>
              <a:rPr lang="ja-JP" altLang="en-US" b="1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ブラウザだけ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 で 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Guacamole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サーバに接続 → クライアントソフト不要。</a:t>
            </a:r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0744EB24-897E-06C1-ECE7-CE6569AE773E}"/>
              </a:ext>
            </a:extLst>
          </p:cNvPr>
          <p:cNvSpPr/>
          <p:nvPr/>
        </p:nvSpPr>
        <p:spPr>
          <a:xfrm>
            <a:off x="4934736" y="3447128"/>
            <a:ext cx="5283200" cy="737652"/>
          </a:xfrm>
          <a:custGeom>
            <a:avLst/>
            <a:gdLst/>
            <a:ahLst/>
            <a:cxnLst/>
            <a:rect l="l" t="t" r="r" b="b"/>
            <a:pathLst>
              <a:path w="5283200" h="1219200">
                <a:moveTo>
                  <a:pt x="101596" y="0"/>
                </a:moveTo>
                <a:lnTo>
                  <a:pt x="5181604" y="0"/>
                </a:lnTo>
                <a:cubicBezTo>
                  <a:pt x="5237714" y="0"/>
                  <a:pt x="5283200" y="45486"/>
                  <a:pt x="5283200" y="101596"/>
                </a:cubicBezTo>
                <a:lnTo>
                  <a:pt x="5283200" y="1117604"/>
                </a:lnTo>
                <a:cubicBezTo>
                  <a:pt x="5283200" y="1173714"/>
                  <a:pt x="5237714" y="1219200"/>
                  <a:pt x="5181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068DB">
              <a:alpha val="10196"/>
            </a:srgbClr>
          </a:solidFill>
          <a:ln/>
        </p:spPr>
        <p:txBody>
          <a:bodyPr/>
          <a:lstStyle/>
          <a:p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ブラウザ側の 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JavaScript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クライアントが読み込まれ → 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Guacamole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プロトコルでサーバと通信。</a:t>
            </a:r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FCA1F8FE-DD36-3F8C-B7DC-3B8C1A245C8B}"/>
              </a:ext>
            </a:extLst>
          </p:cNvPr>
          <p:cNvSpPr/>
          <p:nvPr/>
        </p:nvSpPr>
        <p:spPr>
          <a:xfrm>
            <a:off x="5503903" y="4673600"/>
            <a:ext cx="5283200" cy="976353"/>
          </a:xfrm>
          <a:custGeom>
            <a:avLst/>
            <a:gdLst/>
            <a:ahLst/>
            <a:cxnLst/>
            <a:rect l="l" t="t" r="r" b="b"/>
            <a:pathLst>
              <a:path w="5283200" h="1219200">
                <a:moveTo>
                  <a:pt x="101596" y="0"/>
                </a:moveTo>
                <a:lnTo>
                  <a:pt x="5181604" y="0"/>
                </a:lnTo>
                <a:cubicBezTo>
                  <a:pt x="5237714" y="0"/>
                  <a:pt x="5283200" y="45486"/>
                  <a:pt x="5283200" y="101596"/>
                </a:cubicBezTo>
                <a:lnTo>
                  <a:pt x="5283200" y="1117604"/>
                </a:lnTo>
                <a:cubicBezTo>
                  <a:pt x="5283200" y="1173714"/>
                  <a:pt x="5237714" y="1219200"/>
                  <a:pt x="51816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3068DB">
              <a:alpha val="10196"/>
            </a:srgbClr>
          </a:solidFill>
          <a:ln/>
        </p:spPr>
        <p:txBody>
          <a:bodyPr/>
          <a:lstStyle/>
          <a:p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サーバ側では </a:t>
            </a:r>
            <a:r>
              <a:rPr lang="en-US" altLang="ja-JP" b="1" dirty="0" err="1">
                <a:latin typeface="Noto Sans SC" panose="020B0200000000000000" pitchFamily="34" charset="-122"/>
                <a:ea typeface="Noto Sans SC" panose="020B0200000000000000" pitchFamily="34" charset="-122"/>
              </a:rPr>
              <a:t>guacd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 が動作し、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RDP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／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VNC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／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SSH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などのネイティブプロトコルと </a:t>
            </a:r>
            <a:r>
              <a:rPr lang="en-US" altLang="ja-JP" dirty="0">
                <a:latin typeface="Noto Sans SC" panose="020B0200000000000000" pitchFamily="34" charset="-122"/>
                <a:ea typeface="Noto Sans SC" panose="020B0200000000000000" pitchFamily="34" charset="-122"/>
              </a:rPr>
              <a:t>Guacamole </a:t>
            </a:r>
            <a:r>
              <a:rPr lang="ja-JP" altLang="en-US" dirty="0">
                <a:latin typeface="Noto Sans SC" panose="020B0200000000000000" pitchFamily="34" charset="-122"/>
                <a:ea typeface="Noto Sans SC" panose="020B0200000000000000" pitchFamily="34" charset="-122"/>
              </a:rPr>
              <a:t>プロトコルの間を翻訳／中継。</a:t>
            </a:r>
            <a:endParaRPr lang="zh-CN" altLang="en-US" dirty="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088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158750" y="1701800"/>
            <a:ext cx="1187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システム構成と接続フロー</a:t>
            </a:r>
            <a:endParaRPr lang="en-US" sz="1600" dirty="0"/>
          </a:p>
        </p:txBody>
      </p:sp>
      <p:sp>
        <p:nvSpPr>
          <p:cNvPr id="8" name="Shape 1"/>
          <p:cNvSpPr/>
          <p:nvPr/>
        </p:nvSpPr>
        <p:spPr>
          <a:xfrm>
            <a:off x="107696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2"/>
          <p:cNvSpPr/>
          <p:nvPr/>
        </p:nvSpPr>
        <p:spPr>
          <a:xfrm>
            <a:off x="1356360" y="2844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3"/>
          <p:cNvSpPr/>
          <p:nvPr/>
        </p:nvSpPr>
        <p:spPr>
          <a:xfrm>
            <a:off x="406400" y="36830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ユーザブラウザ</a:t>
            </a:r>
            <a:endParaRPr lang="en-US" sz="1600" dirty="0"/>
          </a:p>
        </p:txBody>
      </p:sp>
      <p:sp>
        <p:nvSpPr>
          <p:cNvPr id="11" name="Text 4"/>
          <p:cNvSpPr/>
          <p:nvPr/>
        </p:nvSpPr>
        <p:spPr>
          <a:xfrm>
            <a:off x="419100" y="39878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zh-CN" sz="12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</a:t>
            </a:r>
            <a:r>
              <a:rPr lang="en-US" sz="12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にアクセス</a:t>
            </a:r>
            <a:endParaRPr lang="en-US" sz="1600" dirty="0"/>
          </a:p>
        </p:txBody>
      </p:sp>
      <p:sp>
        <p:nvSpPr>
          <p:cNvPr id="12" name="Shape 5"/>
          <p:cNvSpPr/>
          <p:nvPr/>
        </p:nvSpPr>
        <p:spPr>
          <a:xfrm>
            <a:off x="2712720" y="3098642"/>
            <a:ext cx="749300" cy="50800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6"/>
          <p:cNvSpPr/>
          <p:nvPr/>
        </p:nvSpPr>
        <p:spPr>
          <a:xfrm>
            <a:off x="408432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7"/>
          <p:cNvSpPr/>
          <p:nvPr/>
        </p:nvSpPr>
        <p:spPr>
          <a:xfrm>
            <a:off x="4392295" y="28448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8"/>
          <p:cNvSpPr/>
          <p:nvPr/>
        </p:nvSpPr>
        <p:spPr>
          <a:xfrm>
            <a:off x="3139267" y="3497228"/>
            <a:ext cx="2994660" cy="859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Rag</a:t>
            </a: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　　　　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3462020" y="4190842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 flipV="1">
            <a:off x="5322570" y="3137791"/>
            <a:ext cx="1666592" cy="45719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1"/>
          <p:cNvSpPr/>
          <p:nvPr/>
        </p:nvSpPr>
        <p:spPr>
          <a:xfrm>
            <a:off x="709168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2"/>
          <p:cNvSpPr/>
          <p:nvPr/>
        </p:nvSpPr>
        <p:spPr>
          <a:xfrm>
            <a:off x="7313930" y="28448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3"/>
          <p:cNvSpPr/>
          <p:nvPr/>
        </p:nvSpPr>
        <p:spPr>
          <a:xfrm>
            <a:off x="6421120" y="3683000"/>
            <a:ext cx="2362200" cy="805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</a:t>
            </a:r>
            <a:r>
              <a:rPr lang="en-US" altLang="zh-CN" sz="1600" b="1" dirty="0" err="1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</a:rPr>
              <a:t>gucamole</a:t>
            </a: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</a:rPr>
              <a:t>サーバ</a:t>
            </a:r>
            <a:br>
              <a:rPr lang="en-US" altLang="ja-JP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</a:rPr>
            </a:b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</a:rPr>
              <a:t>＋</a:t>
            </a:r>
            <a:r>
              <a:rPr lang="en-US" sz="1600" b="1" dirty="0" err="1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guacd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504594" y="4518709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プロキシデーモンが接続確立</a:t>
            </a:r>
            <a:endParaRPr lang="en-US" sz="1600" dirty="0"/>
          </a:p>
        </p:txBody>
      </p:sp>
      <p:sp>
        <p:nvSpPr>
          <p:cNvPr id="22" name="Shape 15"/>
          <p:cNvSpPr/>
          <p:nvPr/>
        </p:nvSpPr>
        <p:spPr>
          <a:xfrm>
            <a:off x="8727440" y="3098642"/>
            <a:ext cx="749300" cy="50800"/>
          </a:xfrm>
          <a:custGeom>
            <a:avLst/>
            <a:gdLst/>
            <a:ahLst/>
            <a:cxnLst/>
            <a:rect l="l" t="t" r="r" b="b"/>
            <a:pathLst>
              <a:path w="749300" h="50800">
                <a:moveTo>
                  <a:pt x="0" y="0"/>
                </a:moveTo>
                <a:lnTo>
                  <a:pt x="749300" y="0"/>
                </a:lnTo>
                <a:lnTo>
                  <a:pt x="7493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6"/>
          <p:cNvSpPr/>
          <p:nvPr/>
        </p:nvSpPr>
        <p:spPr>
          <a:xfrm>
            <a:off x="10099040" y="25654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0"/>
                </a:moveTo>
                <a:lnTo>
                  <a:pt x="508000" y="0"/>
                </a:lnTo>
                <a:cubicBezTo>
                  <a:pt x="788373" y="0"/>
                  <a:pt x="1016000" y="227627"/>
                  <a:pt x="1016000" y="508000"/>
                </a:cubicBezTo>
                <a:lnTo>
                  <a:pt x="1016000" y="508000"/>
                </a:lnTo>
                <a:cubicBezTo>
                  <a:pt x="1016000" y="788373"/>
                  <a:pt x="788373" y="1016000"/>
                  <a:pt x="508000" y="1016000"/>
                </a:cubicBezTo>
                <a:lnTo>
                  <a:pt x="508000" y="1016000"/>
                </a:lnTo>
                <a:cubicBezTo>
                  <a:pt x="227627" y="1016000"/>
                  <a:pt x="0" y="788373"/>
                  <a:pt x="0" y="508000"/>
                </a:cubicBezTo>
                <a:lnTo>
                  <a:pt x="0" y="508000"/>
                </a:lnTo>
                <a:cubicBezTo>
                  <a:pt x="0" y="227627"/>
                  <a:pt x="227627" y="0"/>
                  <a:pt x="508000" y="0"/>
                </a:cubicBezTo>
                <a:close/>
              </a:path>
            </a:pathLst>
          </a:custGeom>
          <a:solidFill>
            <a:srgbClr val="8BAC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7"/>
          <p:cNvSpPr/>
          <p:nvPr/>
        </p:nvSpPr>
        <p:spPr>
          <a:xfrm>
            <a:off x="10349865" y="28448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18"/>
          <p:cNvSpPr/>
          <p:nvPr/>
        </p:nvSpPr>
        <p:spPr>
          <a:xfrm>
            <a:off x="9428480" y="3683000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</a:t>
            </a:r>
            <a:r>
              <a:rPr lang="ja-JP" altLang="en-US" sz="16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ターゲット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9441180" y="398780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RDP/SSHで中継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656098" y="5282884"/>
            <a:ext cx="10871200" cy="558800"/>
          </a:xfrm>
          <a:custGeom>
            <a:avLst/>
            <a:gdLst/>
            <a:ahLst/>
            <a:cxnLst/>
            <a:rect l="l" t="t" r="r" b="b"/>
            <a:pathLst>
              <a:path w="10871200" h="558800">
                <a:moveTo>
                  <a:pt x="101601" y="0"/>
                </a:moveTo>
                <a:lnTo>
                  <a:pt x="10769599" y="0"/>
                </a:lnTo>
                <a:cubicBezTo>
                  <a:pt x="10825712" y="0"/>
                  <a:pt x="10871200" y="45488"/>
                  <a:pt x="10871200" y="101601"/>
                </a:cubicBezTo>
                <a:lnTo>
                  <a:pt x="10871200" y="457199"/>
                </a:lnTo>
                <a:cubicBezTo>
                  <a:pt x="10871200" y="513312"/>
                  <a:pt x="10825712" y="558800"/>
                  <a:pt x="107695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0C3C84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1"/>
          <p:cNvSpPr/>
          <p:nvPr/>
        </p:nvSpPr>
        <p:spPr>
          <a:xfrm>
            <a:off x="307974" y="5435126"/>
            <a:ext cx="1065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構成イメージ: </a:t>
            </a:r>
            <a:r>
              <a:rPr lang="en-US" altLang="ja-JP" sz="14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</a:t>
            </a:r>
            <a:r>
              <a:rPr lang="en-US" altLang="zh-CN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4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4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Guacamole API</a:t>
            </a:r>
            <a:r>
              <a:rPr lang="en-US" altLang="zh-CN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altLang="ja-JP" sz="1400" b="1" dirty="0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guacamole</a:t>
            </a: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en-US" sz="1400" b="1" dirty="0" err="1">
                <a:solidFill>
                  <a:srgbClr val="3068D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guacd</a:t>
            </a:r>
            <a:r>
              <a:rPr lang="en-US" sz="1400" dirty="0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r>
              <a:rPr lang="ja-JP" altLang="en-US" sz="14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ターゲット</a:t>
            </a:r>
            <a:endParaRPr lang="en-US" sz="16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E9984E9C-5538-1658-FBE4-13F32AB31F72}"/>
              </a:ext>
            </a:extLst>
          </p:cNvPr>
          <p:cNvSpPr/>
          <p:nvPr/>
        </p:nvSpPr>
        <p:spPr>
          <a:xfrm>
            <a:off x="4890135" y="2851490"/>
            <a:ext cx="2336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altLang="zh-CN" sz="1200" dirty="0" err="1">
                <a:solidFill>
                  <a:srgbClr val="21212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APIで接続要求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6999" y="-2667000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056618" y="672246"/>
            <a:ext cx="7661469" cy="722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altLang="ja-JP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</a:t>
            </a: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が利用している </a:t>
            </a:r>
            <a:r>
              <a:rPr lang="en-US" altLang="ja-JP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Guacamole </a:t>
            </a: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機能</a:t>
            </a:r>
            <a:endParaRPr lang="en-US" sz="1600" dirty="0"/>
          </a:p>
        </p:txBody>
      </p: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9CAC111C-1D97-2012-6AD6-416E875B4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306302"/>
              </p:ext>
            </p:extLst>
          </p:nvPr>
        </p:nvGraphicFramePr>
        <p:xfrm>
          <a:off x="717193" y="1380022"/>
          <a:ext cx="10757609" cy="4659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521">
                  <a:extLst>
                    <a:ext uri="{9D8B030D-6E8A-4147-A177-3AD203B41FA5}">
                      <a16:colId xmlns:a16="http://schemas.microsoft.com/office/drawing/2014/main" val="165612869"/>
                    </a:ext>
                  </a:extLst>
                </a:gridCol>
                <a:gridCol w="4477445">
                  <a:extLst>
                    <a:ext uri="{9D8B030D-6E8A-4147-A177-3AD203B41FA5}">
                      <a16:colId xmlns:a16="http://schemas.microsoft.com/office/drawing/2014/main" val="2569969993"/>
                    </a:ext>
                  </a:extLst>
                </a:gridCol>
                <a:gridCol w="4019643">
                  <a:extLst>
                    <a:ext uri="{9D8B030D-6E8A-4147-A177-3AD203B41FA5}">
                      <a16:colId xmlns:a16="http://schemas.microsoft.com/office/drawing/2014/main" val="3398520647"/>
                    </a:ext>
                  </a:extLst>
                </a:gridCol>
              </a:tblGrid>
              <a:tr h="397006">
                <a:tc>
                  <a:txBody>
                    <a:bodyPr/>
                    <a:lstStyle/>
                    <a:p>
                      <a:r>
                        <a:rPr lang="en-US" altLang="ja-JP" dirty="0"/>
                        <a:t>RAG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guacamole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890683"/>
                  </a:ext>
                </a:extLst>
              </a:tr>
              <a:tr h="927934">
                <a:tc>
                  <a:txBody>
                    <a:bodyPr/>
                    <a:lstStyle/>
                    <a:p>
                      <a:r>
                        <a:rPr lang="ja-JP" altLang="en-US" dirty="0"/>
                        <a:t>ターゲット接続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RDP</a:t>
                      </a:r>
                      <a:r>
                        <a:rPr lang="ja-JP" altLang="en-US" dirty="0"/>
                        <a:t>、</a:t>
                      </a:r>
                      <a:r>
                        <a:rPr lang="en-US" altLang="ja-JP" dirty="0"/>
                        <a:t>SSH</a:t>
                      </a:r>
                      <a:r>
                        <a:rPr lang="ja-JP" altLang="en-US" dirty="0"/>
                        <a:t>のトンネル接続</a:t>
                      </a:r>
                      <a:r>
                        <a:rPr lang="en-US" altLang="ja-JP" dirty="0"/>
                        <a:t>(</a:t>
                      </a:r>
                      <a:r>
                        <a:rPr lang="en-US" altLang="ja-JP" dirty="0" err="1"/>
                        <a:t>websocket</a:t>
                      </a:r>
                      <a:r>
                        <a:rPr lang="en-US" altLang="ja-JP" dirty="0"/>
                        <a:t>)</a:t>
                      </a:r>
                    </a:p>
                    <a:p>
                      <a:r>
                        <a:rPr lang="ja-JP" altLang="en-US" dirty="0"/>
                        <a:t>ユーザ管理</a:t>
                      </a:r>
                      <a:r>
                        <a:rPr lang="en-US" altLang="ja-JP" dirty="0"/>
                        <a:t>(</a:t>
                      </a:r>
                      <a:r>
                        <a:rPr lang="ja-JP" altLang="en-US" dirty="0"/>
                        <a:t>登録・権限登録</a:t>
                      </a:r>
                      <a:r>
                        <a:rPr lang="en-US" altLang="ja-JP" dirty="0"/>
                        <a:t>)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接続管理</a:t>
                      </a:r>
                      <a:r>
                        <a:rPr lang="en-US" altLang="ja-JP" dirty="0"/>
                        <a:t>(</a:t>
                      </a:r>
                      <a:r>
                        <a:rPr lang="ja-JP" altLang="en-US" dirty="0"/>
                        <a:t>登録・更新</a:t>
                      </a:r>
                      <a:r>
                        <a:rPr lang="en-US" altLang="ja-JP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プロトコル接続を </a:t>
                      </a:r>
                      <a:r>
                        <a:rPr lang="en-US" altLang="ja-JP" dirty="0"/>
                        <a:t>Guacamole </a:t>
                      </a:r>
                      <a:r>
                        <a:rPr lang="ja-JP" altLang="en-US" dirty="0"/>
                        <a:t>のエンジンに依存、プロトコル処理・画面転送を </a:t>
                      </a:r>
                      <a:r>
                        <a:rPr lang="en-US" altLang="ja-JP" dirty="0"/>
                        <a:t>Guacamole </a:t>
                      </a:r>
                      <a:r>
                        <a:rPr lang="ja-JP" altLang="en-US" dirty="0"/>
                        <a:t>に依存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280189"/>
                  </a:ext>
                </a:extLst>
              </a:tr>
              <a:tr h="935878">
                <a:tc>
                  <a:txBody>
                    <a:bodyPr/>
                    <a:lstStyle/>
                    <a:p>
                      <a:r>
                        <a:rPr lang="ja-JP" altLang="en-US" dirty="0"/>
                        <a:t>セッション管理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　・接続共有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　・切断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履歴情報取得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アクティブセッション取得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共有プロファイル情報登録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共有プロファイルの</a:t>
                      </a:r>
                      <a:r>
                        <a:rPr lang="en-US" altLang="ja-JP" dirty="0"/>
                        <a:t>URL</a:t>
                      </a:r>
                      <a:r>
                        <a:rPr lang="ja-JP" altLang="en-US" dirty="0"/>
                        <a:t>取得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アクティブセッション切断</a:t>
                      </a:r>
                      <a:endParaRPr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セッション管理画面表示情報は</a:t>
                      </a:r>
                      <a:r>
                        <a:rPr lang="en-US" altLang="ja-JP" dirty="0"/>
                        <a:t>RAG</a:t>
                      </a:r>
                      <a:r>
                        <a:rPr lang="ja-JP" altLang="en-US" dirty="0"/>
                        <a:t>独自の</a:t>
                      </a:r>
                      <a:r>
                        <a:rPr lang="en-US" altLang="ja-JP" dirty="0"/>
                        <a:t>DB</a:t>
                      </a:r>
                      <a:r>
                        <a:rPr lang="ja-JP" altLang="en-US" dirty="0"/>
                        <a:t>の履歴情報で管理してます。</a:t>
                      </a:r>
                      <a:endParaRPr lang="en-US" altLang="ja-JP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16202"/>
                  </a:ext>
                </a:extLst>
              </a:tr>
              <a:tr h="935878">
                <a:tc>
                  <a:txBody>
                    <a:bodyPr/>
                    <a:lstStyle/>
                    <a:p>
                      <a:r>
                        <a:rPr lang="ja-JP" altLang="en-US" dirty="0"/>
                        <a:t>ファイルアップロード・ダウンロード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転送機能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・</a:t>
                      </a:r>
                      <a:r>
                        <a:rPr lang="en-US" altLang="ja-JP" dirty="0"/>
                        <a:t>RDP</a:t>
                      </a:r>
                      <a:r>
                        <a:rPr lang="ja-JP" altLang="en-US" dirty="0"/>
                        <a:t>：仮想ドライブ経由のファイル共有</a:t>
                      </a:r>
                      <a:br>
                        <a:rPr lang="ja-JP" altLang="en-US" dirty="0"/>
                      </a:br>
                      <a:r>
                        <a:rPr lang="ja-JP" altLang="en-US" dirty="0"/>
                        <a:t>・</a:t>
                      </a:r>
                      <a:r>
                        <a:rPr lang="en-US" altLang="ja-JP" dirty="0"/>
                        <a:t>SSH/SFTP</a:t>
                      </a:r>
                      <a:r>
                        <a:rPr lang="ja-JP" altLang="en-US" dirty="0"/>
                        <a:t>：</a:t>
                      </a:r>
                      <a:r>
                        <a:rPr lang="en-US" altLang="ja-JP" dirty="0"/>
                        <a:t>SFTP</a:t>
                      </a:r>
                      <a:r>
                        <a:rPr lang="ja-JP" altLang="en-US" dirty="0"/>
                        <a:t>プロトコルで転送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転送処理そのものは</a:t>
                      </a:r>
                      <a:r>
                        <a:rPr lang="en-US" altLang="ja-JP" dirty="0"/>
                        <a:t>Guacamole</a:t>
                      </a:r>
                      <a:r>
                        <a:rPr lang="ja-JP" altLang="en-US" dirty="0"/>
                        <a:t>に依存し、</a:t>
                      </a:r>
                      <a:r>
                        <a:rPr lang="en-US" altLang="ja-JP" dirty="0"/>
                        <a:t>Rag</a:t>
                      </a:r>
                      <a:r>
                        <a:rPr lang="ja-JP" altLang="en-US" dirty="0"/>
                        <a:t>は制御を追加してます。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967414"/>
                  </a:ext>
                </a:extLst>
              </a:tr>
              <a:tr h="9358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録画</a:t>
                      </a:r>
                      <a:endParaRPr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ja-JP" altLang="en-US" dirty="0"/>
                        <a:t>画面録画</a:t>
                      </a:r>
                      <a:br>
                        <a:rPr lang="en-US" altLang="ja-JP" dirty="0"/>
                      </a:br>
                      <a:r>
                        <a:rPr lang="ja-JP" altLang="en-US" dirty="0"/>
                        <a:t>エンコーディング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guacamole</a:t>
                      </a:r>
                      <a:r>
                        <a:rPr lang="ja-JP" altLang="en-US" dirty="0"/>
                        <a:t>の独自の録画ファイルを</a:t>
                      </a:r>
                      <a:r>
                        <a:rPr lang="en-US" altLang="ja-JP" dirty="0"/>
                        <a:t>MP4</a:t>
                      </a:r>
                      <a:r>
                        <a:rPr lang="ja-JP" altLang="en-US" dirty="0"/>
                        <a:t>へエンコードして</a:t>
                      </a:r>
                      <a:r>
                        <a:rPr lang="en-US" altLang="ja-JP" dirty="0"/>
                        <a:t>S3</a:t>
                      </a:r>
                      <a:r>
                        <a:rPr lang="ja-JP" altLang="en-US" dirty="0"/>
                        <a:t>で格納してます。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0093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8:06:12-d2tbc55nfo2stf9djotg.jpe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16200000">
            <a:off x="2667000" y="-2956157"/>
            <a:ext cx="6858000" cy="1219200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0000" flipH="1">
            <a:off x="10808335" y="-596265"/>
            <a:ext cx="2172335" cy="217678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8:06:13-d2tbc5dnfo2stf9djov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82955" y="5003800"/>
            <a:ext cx="1850390" cy="185420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8:06:14-d2tbc5lnfo2stf9djp50.png"/>
          <p:cNvPicPr>
            <a:picLocks noChangeAspect="1"/>
          </p:cNvPicPr>
          <p:nvPr/>
        </p:nvPicPr>
        <p:blipFill>
          <a:blip r:embed="rId5"/>
          <a:srcRect t="52708" r="29812"/>
          <a:stretch/>
        </p:blipFill>
        <p:spPr>
          <a:xfrm>
            <a:off x="7011670" y="0"/>
            <a:ext cx="5180330" cy="1963420"/>
          </a:xfrm>
          <a:prstGeom prst="rect">
            <a:avLst/>
          </a:prstGeom>
        </p:spPr>
      </p:pic>
      <p:pic>
        <p:nvPicPr>
          <p:cNvPr id="6" name="Image 4" descr="https://kimi-img.moonshot.cn/pub/slides/slides_tmpl/image/25-09-05-18:06:13-d2tbc5dnfo2stf9djo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34290" y="183515"/>
            <a:ext cx="547370" cy="96393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1976015" y="2537162"/>
            <a:ext cx="8239968" cy="1326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ja-JP" altLang="en-US" sz="3000" b="1" dirty="0">
                <a:solidFill>
                  <a:srgbClr val="0C3C84"/>
                </a:solidFill>
                <a:latin typeface="Noto Sans SC" pitchFamily="34" charset="0"/>
                <a:ea typeface="Noto Sans SC" pitchFamily="34" charset="-122"/>
              </a:rPr>
              <a:t>ご視聴ありがとうございました</a:t>
            </a:r>
            <a:endParaRPr lang="en-US" sz="1600" dirty="0"/>
          </a:p>
        </p:txBody>
      </p:sp>
      <p:sp>
        <p:nvSpPr>
          <p:cNvPr id="10" name="Shape 2"/>
          <p:cNvSpPr/>
          <p:nvPr/>
        </p:nvSpPr>
        <p:spPr>
          <a:xfrm>
            <a:off x="6629400" y="2514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47625"/>
                </a:moveTo>
                <a:lnTo>
                  <a:pt x="63500" y="39688"/>
                </a:lnTo>
                <a:cubicBezTo>
                  <a:pt x="63500" y="17760"/>
                  <a:pt x="106164" y="0"/>
                  <a:pt x="158750" y="0"/>
                </a:cubicBezTo>
                <a:cubicBezTo>
                  <a:pt x="211336" y="0"/>
                  <a:pt x="254000" y="17760"/>
                  <a:pt x="254000" y="39688"/>
                </a:cubicBezTo>
                <a:lnTo>
                  <a:pt x="254000" y="47625"/>
                </a:lnTo>
                <a:cubicBezTo>
                  <a:pt x="254000" y="62805"/>
                  <a:pt x="233511" y="76002"/>
                  <a:pt x="203398" y="82699"/>
                </a:cubicBezTo>
                <a:cubicBezTo>
                  <a:pt x="202208" y="81310"/>
                  <a:pt x="200968" y="79970"/>
                  <a:pt x="199727" y="78730"/>
                </a:cubicBezTo>
                <a:cubicBezTo>
                  <a:pt x="192038" y="71140"/>
                  <a:pt x="182116" y="65385"/>
                  <a:pt x="171748" y="61119"/>
                </a:cubicBezTo>
                <a:cubicBezTo>
                  <a:pt x="150961" y="52437"/>
                  <a:pt x="123875" y="47675"/>
                  <a:pt x="95250" y="47675"/>
                </a:cubicBezTo>
                <a:cubicBezTo>
                  <a:pt x="84386" y="47675"/>
                  <a:pt x="73769" y="48369"/>
                  <a:pt x="63599" y="49709"/>
                </a:cubicBezTo>
                <a:cubicBezTo>
                  <a:pt x="63500" y="49064"/>
                  <a:pt x="63500" y="48369"/>
                  <a:pt x="63500" y="47675"/>
                </a:cubicBezTo>
                <a:close/>
                <a:moveTo>
                  <a:pt x="214313" y="175121"/>
                </a:moveTo>
                <a:lnTo>
                  <a:pt x="214313" y="152202"/>
                </a:lnTo>
                <a:cubicBezTo>
                  <a:pt x="221804" y="150267"/>
                  <a:pt x="228848" y="147985"/>
                  <a:pt x="235248" y="145306"/>
                </a:cubicBezTo>
                <a:cubicBezTo>
                  <a:pt x="241796" y="142577"/>
                  <a:pt x="248196" y="139254"/>
                  <a:pt x="254000" y="135235"/>
                </a:cubicBezTo>
                <a:lnTo>
                  <a:pt x="254000" y="142875"/>
                </a:lnTo>
                <a:cubicBezTo>
                  <a:pt x="254000" y="156170"/>
                  <a:pt x="238373" y="167928"/>
                  <a:pt x="214313" y="175121"/>
                </a:cubicBezTo>
                <a:close/>
                <a:moveTo>
                  <a:pt x="214313" y="127496"/>
                </a:moveTo>
                <a:lnTo>
                  <a:pt x="214313" y="111125"/>
                </a:lnTo>
                <a:cubicBezTo>
                  <a:pt x="214313" y="108893"/>
                  <a:pt x="214114" y="106759"/>
                  <a:pt x="213816" y="104676"/>
                </a:cubicBezTo>
                <a:cubicBezTo>
                  <a:pt x="221506" y="102741"/>
                  <a:pt x="228699" y="100409"/>
                  <a:pt x="235248" y="97631"/>
                </a:cubicBezTo>
                <a:cubicBezTo>
                  <a:pt x="241796" y="94853"/>
                  <a:pt x="248196" y="91579"/>
                  <a:pt x="254000" y="87561"/>
                </a:cubicBezTo>
                <a:lnTo>
                  <a:pt x="254000" y="95200"/>
                </a:lnTo>
                <a:cubicBezTo>
                  <a:pt x="254000" y="108496"/>
                  <a:pt x="238373" y="120253"/>
                  <a:pt x="214313" y="127446"/>
                </a:cubicBezTo>
                <a:close/>
                <a:moveTo>
                  <a:pt x="0" y="119063"/>
                </a:moveTo>
                <a:lnTo>
                  <a:pt x="0" y="111125"/>
                </a:lnTo>
                <a:cubicBezTo>
                  <a:pt x="0" y="89198"/>
                  <a:pt x="42664" y="71438"/>
                  <a:pt x="95250" y="71438"/>
                </a:cubicBezTo>
                <a:cubicBezTo>
                  <a:pt x="147836" y="71438"/>
                  <a:pt x="190500" y="89198"/>
                  <a:pt x="190500" y="111125"/>
                </a:cubicBezTo>
                <a:lnTo>
                  <a:pt x="190500" y="119063"/>
                </a:lnTo>
                <a:cubicBezTo>
                  <a:pt x="190500" y="140990"/>
                  <a:pt x="147836" y="158750"/>
                  <a:pt x="95250" y="158750"/>
                </a:cubicBezTo>
                <a:cubicBezTo>
                  <a:pt x="42664" y="158750"/>
                  <a:pt x="0" y="140990"/>
                  <a:pt x="0" y="119063"/>
                </a:cubicBezTo>
                <a:close/>
                <a:moveTo>
                  <a:pt x="190500" y="166688"/>
                </a:moveTo>
                <a:cubicBezTo>
                  <a:pt x="190500" y="188615"/>
                  <a:pt x="147836" y="206375"/>
                  <a:pt x="95250" y="206375"/>
                </a:cubicBezTo>
                <a:cubicBezTo>
                  <a:pt x="42664" y="206375"/>
                  <a:pt x="0" y="188615"/>
                  <a:pt x="0" y="166688"/>
                </a:cubicBezTo>
                <a:lnTo>
                  <a:pt x="0" y="159048"/>
                </a:lnTo>
                <a:cubicBezTo>
                  <a:pt x="5755" y="163066"/>
                  <a:pt x="12154" y="166340"/>
                  <a:pt x="18752" y="169118"/>
                </a:cubicBezTo>
                <a:cubicBezTo>
                  <a:pt x="39539" y="177800"/>
                  <a:pt x="66625" y="182563"/>
                  <a:pt x="95250" y="182563"/>
                </a:cubicBezTo>
                <a:cubicBezTo>
                  <a:pt x="123875" y="182563"/>
                  <a:pt x="150961" y="177750"/>
                  <a:pt x="171748" y="169118"/>
                </a:cubicBezTo>
                <a:cubicBezTo>
                  <a:pt x="178296" y="166390"/>
                  <a:pt x="184696" y="163066"/>
                  <a:pt x="190500" y="159048"/>
                </a:cubicBezTo>
                <a:lnTo>
                  <a:pt x="190500" y="166688"/>
                </a:lnTo>
                <a:close/>
                <a:moveTo>
                  <a:pt x="190500" y="206673"/>
                </a:moveTo>
                <a:lnTo>
                  <a:pt x="190500" y="214313"/>
                </a:lnTo>
                <a:cubicBezTo>
                  <a:pt x="190500" y="236240"/>
                  <a:pt x="147836" y="254000"/>
                  <a:pt x="95250" y="254000"/>
                </a:cubicBezTo>
                <a:cubicBezTo>
                  <a:pt x="42664" y="254000"/>
                  <a:pt x="0" y="236240"/>
                  <a:pt x="0" y="214313"/>
                </a:cubicBezTo>
                <a:lnTo>
                  <a:pt x="0" y="206673"/>
                </a:lnTo>
                <a:cubicBezTo>
                  <a:pt x="5755" y="210691"/>
                  <a:pt x="12154" y="213965"/>
                  <a:pt x="18752" y="216743"/>
                </a:cubicBezTo>
                <a:cubicBezTo>
                  <a:pt x="39539" y="225425"/>
                  <a:pt x="66625" y="230188"/>
                  <a:pt x="95250" y="230188"/>
                </a:cubicBezTo>
                <a:cubicBezTo>
                  <a:pt x="123875" y="230188"/>
                  <a:pt x="150961" y="225375"/>
                  <a:pt x="171748" y="216743"/>
                </a:cubicBezTo>
                <a:cubicBezTo>
                  <a:pt x="178296" y="214015"/>
                  <a:pt x="184696" y="210691"/>
                  <a:pt x="190500" y="2066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6"/>
          <p:cNvSpPr/>
          <p:nvPr/>
        </p:nvSpPr>
        <p:spPr>
          <a:xfrm>
            <a:off x="6597650" y="35306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0"/>
          <p:cNvSpPr/>
          <p:nvPr/>
        </p:nvSpPr>
        <p:spPr>
          <a:xfrm>
            <a:off x="6629400" y="4546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372</Words>
  <Application>Microsoft Office PowerPoint</Application>
  <PresentationFormat>宽屏</PresentationFormat>
  <Paragraphs>63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MiSans</vt:lpstr>
      <vt:lpstr>Noto Sans SC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RagシステムとGuacamole：関係と仕組みのご説明</dc:title>
  <dc:subject>RagシステムとGuacamole：関係と仕組みのご説明</dc:subject>
  <dc:creator>Kimi</dc:creator>
  <cp:lastModifiedBy>世杰 陳</cp:lastModifiedBy>
  <cp:revision>25</cp:revision>
  <dcterms:created xsi:type="dcterms:W3CDTF">2025-12-02T13:07:39Z</dcterms:created>
  <dcterms:modified xsi:type="dcterms:W3CDTF">2025-12-03T08:55:50Z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agシステムとGuacamole：関係と仕組みのご説明","ContentProducer":"001191110108MACG2KBH8F10000","ProduceID":"d4ndtl53v89k6avoi7n0","ReservedCode1":"","ContentPropagator":"001191110108MACG2KBH8F20000","PropagateID":"d4ndtl53v89k6avoi7n0","ReservedCode2":""}</vt:lpwstr>
  </property>
</Properties>
</file>