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61" r:id="rId4"/>
    <p:sldId id="277" r:id="rId5"/>
    <p:sldId id="263" r:id="rId6"/>
    <p:sldId id="267" r:id="rId7"/>
    <p:sldId id="271" r:id="rId8"/>
  </p:sldIdLst>
  <p:sldSz cx="12192000" cy="6858000"/>
  <p:notesSz cx="6858000" cy="12192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2219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A8CC4-7C02-A241-14AE-65393DB04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505F35-3DA7-876D-1968-55D11E9ACF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958C95-0C20-B9D4-F957-1A450C1CCA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1A7BE5-889E-9F77-A6B6-441C32B287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8871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kimi-img.moonshot.cn/pub/slides/slides_tmpl/image/25-09-05-18:06:11-d2tbc4tnfo2stf9djos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 flipV="1">
            <a:off x="11081385" y="1593850"/>
            <a:ext cx="377825" cy="121285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5854700" y="4171949"/>
            <a:ext cx="2468206" cy="4863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r>
              <a:rPr lang="en-US" altLang="ja-JP" sz="2000" dirty="0"/>
              <a:t>OSK</a:t>
            </a:r>
            <a:r>
              <a:rPr lang="ja-JP" altLang="en-US" sz="2000" dirty="0"/>
              <a:t>陳世杰</a:t>
            </a:r>
            <a:endParaRPr lang="zh-CN" altLang="en-US" sz="2000" dirty="0"/>
          </a:p>
        </p:txBody>
      </p:sp>
      <p:sp>
        <p:nvSpPr>
          <p:cNvPr id="6" name="Text 1"/>
          <p:cNvSpPr/>
          <p:nvPr/>
        </p:nvSpPr>
        <p:spPr>
          <a:xfrm>
            <a:off x="3922395" y="4117975"/>
            <a:ext cx="1932305" cy="3314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90000"/>
              </a:lnSpc>
            </a:pPr>
            <a:endParaRPr lang="en-US" sz="1600" dirty="0"/>
          </a:p>
        </p:txBody>
      </p:sp>
      <p:sp>
        <p:nvSpPr>
          <p:cNvPr id="7" name="Text 2"/>
          <p:cNvSpPr/>
          <p:nvPr/>
        </p:nvSpPr>
        <p:spPr>
          <a:xfrm>
            <a:off x="512445" y="4137025"/>
            <a:ext cx="2553335" cy="3663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r">
              <a:lnSpc>
                <a:spcPct val="90000"/>
              </a:lnSpc>
            </a:pPr>
            <a:endParaRPr lang="en-US" sz="1600" dirty="0"/>
          </a:p>
        </p:txBody>
      </p:sp>
      <p:pic>
        <p:nvPicPr>
          <p:cNvPr id="10" name="Image 4" descr="https://kimi-img.moonshot.cn/pub/slides/slides_tmpl/image/25-09-05-18:06:11-d2tbc4tnfo2stf9djos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395595" y="0"/>
            <a:ext cx="624840" cy="2007235"/>
          </a:xfrm>
          <a:prstGeom prst="rect">
            <a:avLst/>
          </a:prstGeom>
        </p:spPr>
      </p:pic>
      <p:pic>
        <p:nvPicPr>
          <p:cNvPr id="11" name="Image 5" descr="https://kimi-img.moonshot.cn/pub/slides/slides_tmpl/image/25-09-05-18:06:11-d2tbc4tnfo2stf9djos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 flipV="1">
            <a:off x="7206615" y="5784850"/>
            <a:ext cx="377825" cy="1212850"/>
          </a:xfrm>
          <a:prstGeom prst="rect">
            <a:avLst/>
          </a:prstGeom>
        </p:spPr>
      </p:pic>
      <p:pic>
        <p:nvPicPr>
          <p:cNvPr id="12" name="Image 6" descr="https://kimi-img.moonshot.cn/pub/slides/slides_tmpl/image/25-09-05-18:06:11-d2tbc4tnfo2stf9djot0.png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626745" y="1224280"/>
            <a:ext cx="880110" cy="880110"/>
          </a:xfrm>
          <a:prstGeom prst="rect">
            <a:avLst/>
          </a:prstGeom>
        </p:spPr>
      </p:pic>
      <p:sp>
        <p:nvSpPr>
          <p:cNvPr id="13" name="Text 3">
            <a:extLst>
              <a:ext uri="{FF2B5EF4-FFF2-40B4-BE49-F238E27FC236}">
                <a16:creationId xmlns:a16="http://schemas.microsoft.com/office/drawing/2014/main" id="{60D9E227-AE64-B09F-1ECB-FAEFCA1F8C1A}"/>
              </a:ext>
            </a:extLst>
          </p:cNvPr>
          <p:cNvSpPr/>
          <p:nvPr/>
        </p:nvSpPr>
        <p:spPr>
          <a:xfrm>
            <a:off x="1249565" y="2741364"/>
            <a:ext cx="10590846" cy="76944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4400" b="1" dirty="0">
                <a:solidFill>
                  <a:srgbClr val="2F5B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RAG</a:t>
            </a:r>
            <a:r>
              <a:rPr lang="ja-JP" altLang="en-US" sz="4400" b="1" dirty="0">
                <a:solidFill>
                  <a:srgbClr val="2F5B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と</a:t>
            </a:r>
            <a:r>
              <a:rPr lang="en-US" altLang="ja-JP" sz="4400" b="1" dirty="0">
                <a:solidFill>
                  <a:srgbClr val="2F5B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Guacamole</a:t>
            </a:r>
            <a:r>
              <a:rPr lang="ja-JP" altLang="en-US" sz="4400" b="1" dirty="0">
                <a:solidFill>
                  <a:srgbClr val="2F5B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：関係と機能の紹介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kimi-img.moonshot.cn/pub/slides/slides_tmpl/image/25-09-05-18:06:13-d2tbc5dnfo2stf9djov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920000" flipH="1">
            <a:off x="10808335" y="-596265"/>
            <a:ext cx="2172335" cy="217678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3-d2tbc5dnfo2stf9djov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82955" y="5003800"/>
            <a:ext cx="1850390" cy="185420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8:06:13-d2tbc5dnfo2stf9djo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34290" y="183515"/>
            <a:ext cx="547370" cy="96393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660400" y="1524000"/>
            <a:ext cx="11506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altLang="ja-JP" sz="3600" b="1" dirty="0" err="1">
                <a:solidFill>
                  <a:srgbClr val="0C3C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</a:t>
            </a:r>
            <a:r>
              <a:rPr lang="en-US" sz="3600" b="1" dirty="0" err="1">
                <a:solidFill>
                  <a:srgbClr val="0C3C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とは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660400" y="2133600"/>
            <a:ext cx="11391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社内サーバへの安全なリモートアクセスを、ブラウザだけで実現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1206500" y="2844800"/>
            <a:ext cx="3771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独自開発のゲートウェイ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1206500" y="3149600"/>
            <a:ext cx="3759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Apache Guacamoleをベースに、当社のニーズに合わせてカスタマイズを加えました。</a:t>
            </a: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4668520" y="4470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cubicBezTo>
                  <a:pt x="103426" y="0"/>
                  <a:pt x="105251" y="397"/>
                  <a:pt x="106918" y="1151"/>
                </a:cubicBezTo>
                <a:lnTo>
                  <a:pt x="181689" y="32861"/>
                </a:lnTo>
                <a:cubicBezTo>
                  <a:pt x="190421" y="36552"/>
                  <a:pt x="196929" y="45164"/>
                  <a:pt x="196890" y="55563"/>
                </a:cubicBezTo>
                <a:cubicBezTo>
                  <a:pt x="196691" y="94932"/>
                  <a:pt x="180499" y="166965"/>
                  <a:pt x="112117" y="199708"/>
                </a:cubicBezTo>
                <a:cubicBezTo>
                  <a:pt x="105489" y="202883"/>
                  <a:pt x="97790" y="202883"/>
                  <a:pt x="91162" y="199708"/>
                </a:cubicBezTo>
                <a:cubicBezTo>
                  <a:pt x="22741" y="166965"/>
                  <a:pt x="6588" y="94932"/>
                  <a:pt x="6390" y="55563"/>
                </a:cubicBezTo>
                <a:cubicBezTo>
                  <a:pt x="6350" y="45164"/>
                  <a:pt x="12859" y="36552"/>
                  <a:pt x="21590" y="32861"/>
                </a:cubicBezTo>
                <a:lnTo>
                  <a:pt x="96322" y="1151"/>
                </a:lnTo>
                <a:cubicBezTo>
                  <a:pt x="97988" y="397"/>
                  <a:pt x="99774" y="0"/>
                  <a:pt x="101600" y="0"/>
                </a:cubicBezTo>
                <a:close/>
                <a:moveTo>
                  <a:pt x="101600" y="26511"/>
                </a:moveTo>
                <a:lnTo>
                  <a:pt x="101600" y="176570"/>
                </a:lnTo>
                <a:cubicBezTo>
                  <a:pt x="156369" y="150058"/>
                  <a:pt x="171093" y="91321"/>
                  <a:pt x="171450" y="56158"/>
                </a:cubicBezTo>
                <a:lnTo>
                  <a:pt x="101600" y="26551"/>
                </a:lnTo>
                <a:lnTo>
                  <a:pt x="101600" y="26551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8"/>
          <p:cNvSpPr/>
          <p:nvPr/>
        </p:nvSpPr>
        <p:spPr>
          <a:xfrm>
            <a:off x="6645910" y="2743200"/>
            <a:ext cx="3771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セキュリティと利便性の両立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6752589" y="3175000"/>
            <a:ext cx="3759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クライアントソフト不要で、社内外から安全かつ簡便にサーバアクセスが可能です。</a:t>
            </a:r>
            <a:endParaRPr lang="en-US" sz="16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5B6F4A07-0445-490C-E46D-8176F452FF02}"/>
              </a:ext>
            </a:extLst>
          </p:cNvPr>
          <p:cNvSpPr/>
          <p:nvPr/>
        </p:nvSpPr>
        <p:spPr>
          <a:xfrm>
            <a:off x="1158702" y="4028492"/>
            <a:ext cx="4848139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ja-JP" altLang="en-US" sz="16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マルチプロトコルリモートターゲットの接続</a:t>
            </a: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12F84310-C241-B4E4-3B6B-B5E6B0BCE704}"/>
              </a:ext>
            </a:extLst>
          </p:cNvPr>
          <p:cNvSpPr/>
          <p:nvPr/>
        </p:nvSpPr>
        <p:spPr>
          <a:xfrm>
            <a:off x="1567024" y="4318000"/>
            <a:ext cx="3759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altLang="ja-JP" sz="14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RDP</a:t>
            </a:r>
            <a:r>
              <a:rPr lang="ja-JP" altLang="en-US" sz="14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、</a:t>
            </a:r>
            <a:r>
              <a:rPr lang="en-US" altLang="ja-JP" sz="14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SSH</a:t>
            </a:r>
            <a:r>
              <a:rPr lang="ja-JP" altLang="en-US" sz="14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、</a:t>
            </a:r>
            <a:r>
              <a:rPr lang="en-US" altLang="ja-JP" sz="14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HTTP(</a:t>
            </a:r>
            <a:r>
              <a:rPr lang="en-US" altLang="ja-JP" sz="1400" dirty="0" err="1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WebSSO</a:t>
            </a:r>
            <a:r>
              <a:rPr lang="en-US" altLang="ja-JP" sz="14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)</a:t>
            </a:r>
            <a:endParaRPr lang="en-US" sz="160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BE212DA6-2923-67A4-6DFD-6F8022BCB5D4}"/>
              </a:ext>
            </a:extLst>
          </p:cNvPr>
          <p:cNvSpPr/>
          <p:nvPr/>
        </p:nvSpPr>
        <p:spPr>
          <a:xfrm>
            <a:off x="6627495" y="3911600"/>
            <a:ext cx="3771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ja-JP" altLang="en-US" sz="16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その他機能</a:t>
            </a: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0E299559-0FE6-AA12-F585-01A8495D7CED}"/>
              </a:ext>
            </a:extLst>
          </p:cNvPr>
          <p:cNvSpPr/>
          <p:nvPr/>
        </p:nvSpPr>
        <p:spPr>
          <a:xfrm>
            <a:off x="6627495" y="4216400"/>
            <a:ext cx="4529454" cy="1884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ja-JP" altLang="en-US" sz="16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　</a:t>
            </a:r>
            <a:r>
              <a:rPr lang="en-US" altLang="ja-JP" sz="16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- </a:t>
            </a:r>
            <a:r>
              <a:rPr lang="ja-JP" altLang="en-US" sz="16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セッション管理機能</a:t>
            </a:r>
            <a:br>
              <a:rPr lang="en-US" altLang="ja-JP" sz="1600" dirty="0">
                <a:latin typeface="Noto Sans SC" panose="020B0200000000000000" pitchFamily="34" charset="-122"/>
                <a:ea typeface="Noto Sans SC" panose="020B0200000000000000" pitchFamily="34" charset="-122"/>
              </a:rPr>
            </a:br>
            <a:r>
              <a:rPr lang="ja-JP" altLang="en-US" sz="16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　</a:t>
            </a:r>
            <a:r>
              <a:rPr lang="en-US" altLang="ja-JP" sz="16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- </a:t>
            </a:r>
            <a:r>
              <a:rPr lang="ja-JP" altLang="en-US" sz="16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セッション切断機能</a:t>
            </a:r>
            <a:endParaRPr lang="en-US" altLang="ja-JP" sz="1600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>
              <a:lnSpc>
                <a:spcPct val="120000"/>
              </a:lnSpc>
            </a:pPr>
            <a:r>
              <a:rPr lang="ja-JP" altLang="en-US" sz="16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　</a:t>
            </a:r>
            <a:r>
              <a:rPr lang="en-US" altLang="ja-JP" sz="16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- </a:t>
            </a:r>
            <a:r>
              <a:rPr lang="ja-JP" altLang="en-US" sz="16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セッション共有機能</a:t>
            </a:r>
            <a:endParaRPr lang="en-US" altLang="ja-JP" sz="1600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ja-JP" sz="16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    - </a:t>
            </a:r>
            <a:r>
              <a:rPr lang="ja-JP" altLang="en-US" sz="16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ファイル転送機能</a:t>
            </a:r>
            <a:endParaRPr lang="en-US" altLang="ja-JP" sz="1600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>
              <a:lnSpc>
                <a:spcPct val="120000"/>
              </a:lnSpc>
            </a:pPr>
            <a:r>
              <a:rPr lang="ja-JP" altLang="en-US" sz="16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　</a:t>
            </a:r>
            <a:r>
              <a:rPr lang="en-US" altLang="ja-JP" sz="16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- </a:t>
            </a:r>
            <a:r>
              <a:rPr lang="ja-JP" altLang="en-US" sz="16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録画機能</a:t>
            </a:r>
            <a:endParaRPr lang="en-US" sz="1600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kimi-img.moonshot.cn/pub/slides/slides_tmpl/image/25-09-05-18:06:13-d2tbc5dnfo2stf9djov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920000" flipH="1">
            <a:off x="10808335" y="-596265"/>
            <a:ext cx="2172335" cy="217678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3-d2tbc5dnfo2stf9djov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82955" y="5003800"/>
            <a:ext cx="1850390" cy="185420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8:06:13-d2tbc5dnfo2stf9djo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34290" y="183515"/>
            <a:ext cx="547370" cy="96393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58750" y="14224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0C3C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基盤技術：Apache Guacamole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203200" y="1981200"/>
            <a:ext cx="1178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ブラウザだけでリモートデスクトップにアクセスできるオープンソースのゲートウェイ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1676400" y="2895600"/>
            <a:ext cx="416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クライアントレス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1676400" y="3200400"/>
            <a:ext cx="4152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追加ソフトウェア不要で、ブラウザから直接接続可能。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7264400" y="2895600"/>
            <a:ext cx="416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マルチプロトコル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7264400" y="3200400"/>
            <a:ext cx="4152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RDP、VNC、SSH、Telnet、SFTPなどをサポート。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1676400" y="4419600"/>
            <a:ext cx="416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マルチユーザ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676400" y="4724400"/>
            <a:ext cx="4152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セッションを安定して隔離し、複数ユーザの同時接続に対応。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7264400" y="4419600"/>
            <a:ext cx="416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ログ記録・制御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7264400" y="4724400"/>
            <a:ext cx="4152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操作ログの記録や細やかなアクセス制御機能を備える。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F5861-6781-FC24-192C-6051C7870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kimi-img.moonshot.cn/pub/slides/slides_tmpl/image/25-09-05-18:06:13-d2tbc5dnfo2stf9djov0.png">
            <a:extLst>
              <a:ext uri="{FF2B5EF4-FFF2-40B4-BE49-F238E27FC236}">
                <a16:creationId xmlns:a16="http://schemas.microsoft.com/office/drawing/2014/main" id="{03B0CEE3-F593-E53E-1F2C-1502B415C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920000" flipH="1">
            <a:off x="10808335" y="-596265"/>
            <a:ext cx="2172335" cy="217678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3-d2tbc5dnfo2stf9djov0.png">
            <a:extLst>
              <a:ext uri="{FF2B5EF4-FFF2-40B4-BE49-F238E27FC236}">
                <a16:creationId xmlns:a16="http://schemas.microsoft.com/office/drawing/2014/main" id="{AEFAD8C5-5D39-0035-734A-53BFCB931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82955" y="5003800"/>
            <a:ext cx="1850390" cy="185420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8:06:13-d2tbc5dnfo2stf9djoug.png">
            <a:extLst>
              <a:ext uri="{FF2B5EF4-FFF2-40B4-BE49-F238E27FC236}">
                <a16:creationId xmlns:a16="http://schemas.microsoft.com/office/drawing/2014/main" id="{2EA43608-F227-D10D-3B6D-B3F1F164C7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34290" y="183515"/>
            <a:ext cx="547370" cy="96393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265568B6-D160-3D34-680A-6B07C9AF3B20}"/>
              </a:ext>
            </a:extLst>
          </p:cNvPr>
          <p:cNvSpPr/>
          <p:nvPr/>
        </p:nvSpPr>
        <p:spPr>
          <a:xfrm>
            <a:off x="-330027" y="969347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0C3C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Guacamole</a:t>
            </a:r>
            <a:r>
              <a:rPr lang="ja-JP" altLang="en-US" sz="3000" b="1" dirty="0">
                <a:solidFill>
                  <a:srgbClr val="0C3C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の</a:t>
            </a:r>
            <a:r>
              <a:rPr lang="zh-CN" altLang="en-US" sz="3000" b="1" dirty="0">
                <a:solidFill>
                  <a:srgbClr val="0C3C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仕組</a:t>
            </a:r>
            <a:r>
              <a:rPr lang="ja-JP" altLang="en-US" sz="3000" b="1" dirty="0">
                <a:solidFill>
                  <a:srgbClr val="0C3C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み／</a:t>
            </a:r>
            <a:r>
              <a:rPr lang="zh-CN" altLang="en-US" sz="3000" b="1" dirty="0">
                <a:solidFill>
                  <a:srgbClr val="0C3C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構成</a:t>
            </a:r>
            <a:endParaRPr lang="en-US" sz="1600" dirty="0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E5F3693E-9CE7-030C-B9BE-D3142C2A8906}"/>
              </a:ext>
            </a:extLst>
          </p:cNvPr>
          <p:cNvSpPr/>
          <p:nvPr/>
        </p:nvSpPr>
        <p:spPr>
          <a:xfrm>
            <a:off x="977900" y="46736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190500" y="9525"/>
                </a:moveTo>
                <a:cubicBezTo>
                  <a:pt x="224670" y="9525"/>
                  <a:pt x="252413" y="37267"/>
                  <a:pt x="252413" y="71438"/>
                </a:cubicBezTo>
                <a:cubicBezTo>
                  <a:pt x="252413" y="105608"/>
                  <a:pt x="224670" y="133350"/>
                  <a:pt x="190500" y="133350"/>
                </a:cubicBezTo>
                <a:cubicBezTo>
                  <a:pt x="156330" y="133350"/>
                  <a:pt x="128588" y="105608"/>
                  <a:pt x="128588" y="71438"/>
                </a:cubicBezTo>
                <a:cubicBezTo>
                  <a:pt x="128588" y="37267"/>
                  <a:pt x="156330" y="9525"/>
                  <a:pt x="190500" y="9525"/>
                </a:cubicBezTo>
                <a:close/>
                <a:moveTo>
                  <a:pt x="57150" y="52388"/>
                </a:moveTo>
                <a:cubicBezTo>
                  <a:pt x="80806" y="52388"/>
                  <a:pt x="100013" y="71594"/>
                  <a:pt x="100013" y="95250"/>
                </a:cubicBezTo>
                <a:cubicBezTo>
                  <a:pt x="100013" y="118906"/>
                  <a:pt x="80806" y="138113"/>
                  <a:pt x="57150" y="138113"/>
                </a:cubicBezTo>
                <a:cubicBezTo>
                  <a:pt x="33494" y="138113"/>
                  <a:pt x="14288" y="118906"/>
                  <a:pt x="14288" y="95250"/>
                </a:cubicBezTo>
                <a:cubicBezTo>
                  <a:pt x="14288" y="71594"/>
                  <a:pt x="33494" y="52388"/>
                  <a:pt x="57150" y="52388"/>
                </a:cubicBezTo>
                <a:close/>
                <a:moveTo>
                  <a:pt x="0" y="247650"/>
                </a:moveTo>
                <a:cubicBezTo>
                  <a:pt x="0" y="205561"/>
                  <a:pt x="34111" y="171450"/>
                  <a:pt x="76200" y="171450"/>
                </a:cubicBezTo>
                <a:cubicBezTo>
                  <a:pt x="83820" y="171450"/>
                  <a:pt x="91202" y="172581"/>
                  <a:pt x="98167" y="174665"/>
                </a:cubicBezTo>
                <a:cubicBezTo>
                  <a:pt x="78581" y="196572"/>
                  <a:pt x="66675" y="225504"/>
                  <a:pt x="66675" y="257175"/>
                </a:cubicBezTo>
                <a:lnTo>
                  <a:pt x="66675" y="266700"/>
                </a:lnTo>
                <a:cubicBezTo>
                  <a:pt x="66675" y="273487"/>
                  <a:pt x="68104" y="279916"/>
                  <a:pt x="70664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47650"/>
                </a:lnTo>
                <a:close/>
                <a:moveTo>
                  <a:pt x="310336" y="285750"/>
                </a:moveTo>
                <a:cubicBezTo>
                  <a:pt x="312896" y="279916"/>
                  <a:pt x="314325" y="273487"/>
                  <a:pt x="314325" y="266700"/>
                </a:cubicBezTo>
                <a:lnTo>
                  <a:pt x="314325" y="257175"/>
                </a:lnTo>
                <a:cubicBezTo>
                  <a:pt x="314325" y="225504"/>
                  <a:pt x="302419" y="196572"/>
                  <a:pt x="282833" y="174665"/>
                </a:cubicBezTo>
                <a:cubicBezTo>
                  <a:pt x="289798" y="172581"/>
                  <a:pt x="297180" y="171450"/>
                  <a:pt x="304800" y="171450"/>
                </a:cubicBezTo>
                <a:cubicBezTo>
                  <a:pt x="346889" y="171450"/>
                  <a:pt x="381000" y="205561"/>
                  <a:pt x="381000" y="247650"/>
                </a:cubicBezTo>
                <a:lnTo>
                  <a:pt x="381000" y="266700"/>
                </a:lnTo>
                <a:cubicBezTo>
                  <a:pt x="381000" y="277237"/>
                  <a:pt x="372487" y="285750"/>
                  <a:pt x="361950" y="285750"/>
                </a:cubicBezTo>
                <a:lnTo>
                  <a:pt x="310336" y="285750"/>
                </a:lnTo>
                <a:close/>
                <a:moveTo>
                  <a:pt x="280987" y="95250"/>
                </a:moveTo>
                <a:cubicBezTo>
                  <a:pt x="280987" y="71594"/>
                  <a:pt x="300194" y="52388"/>
                  <a:pt x="323850" y="52388"/>
                </a:cubicBezTo>
                <a:cubicBezTo>
                  <a:pt x="347506" y="52388"/>
                  <a:pt x="366712" y="71594"/>
                  <a:pt x="366712" y="95250"/>
                </a:cubicBezTo>
                <a:cubicBezTo>
                  <a:pt x="366712" y="118906"/>
                  <a:pt x="347506" y="138113"/>
                  <a:pt x="323850" y="138113"/>
                </a:cubicBezTo>
                <a:cubicBezTo>
                  <a:pt x="300194" y="138113"/>
                  <a:pt x="280987" y="118906"/>
                  <a:pt x="280987" y="95250"/>
                </a:cubicBezTo>
                <a:close/>
                <a:moveTo>
                  <a:pt x="95250" y="257175"/>
                </a:moveTo>
                <a:cubicBezTo>
                  <a:pt x="95250" y="204549"/>
                  <a:pt x="137874" y="161925"/>
                  <a:pt x="190500" y="161925"/>
                </a:cubicBezTo>
                <a:cubicBezTo>
                  <a:pt x="243126" y="161925"/>
                  <a:pt x="285750" y="204549"/>
                  <a:pt x="285750" y="257175"/>
                </a:cubicBezTo>
                <a:lnTo>
                  <a:pt x="285750" y="266700"/>
                </a:lnTo>
                <a:cubicBezTo>
                  <a:pt x="285750" y="277237"/>
                  <a:pt x="277237" y="285750"/>
                  <a:pt x="266700" y="285750"/>
                </a:cubicBezTo>
                <a:lnTo>
                  <a:pt x="114300" y="285750"/>
                </a:lnTo>
                <a:cubicBezTo>
                  <a:pt x="103763" y="285750"/>
                  <a:pt x="95250" y="277237"/>
                  <a:pt x="95250" y="266700"/>
                </a:cubicBezTo>
                <a:lnTo>
                  <a:pt x="95250" y="257175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CC19A271-4649-C4DF-D66B-B69D448F2361}"/>
              </a:ext>
            </a:extLst>
          </p:cNvPr>
          <p:cNvSpPr/>
          <p:nvPr/>
        </p:nvSpPr>
        <p:spPr>
          <a:xfrm>
            <a:off x="6642100" y="46736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85380" y="19050"/>
                </a:moveTo>
                <a:lnTo>
                  <a:pt x="190500" y="19050"/>
                </a:lnTo>
                <a:cubicBezTo>
                  <a:pt x="211515" y="19050"/>
                  <a:pt x="228600" y="36135"/>
                  <a:pt x="228600" y="5715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57150"/>
                </a:lnTo>
                <a:cubicBezTo>
                  <a:pt x="0" y="36135"/>
                  <a:pt x="17085" y="19050"/>
                  <a:pt x="38100" y="19050"/>
                </a:cubicBezTo>
                <a:lnTo>
                  <a:pt x="43220" y="19050"/>
                </a:lnTo>
                <a:cubicBezTo>
                  <a:pt x="49768" y="7680"/>
                  <a:pt x="62091" y="0"/>
                  <a:pt x="76200" y="0"/>
                </a:cubicBezTo>
                <a:lnTo>
                  <a:pt x="152400" y="0"/>
                </a:lnTo>
                <a:cubicBezTo>
                  <a:pt x="166509" y="0"/>
                  <a:pt x="178832" y="7680"/>
                  <a:pt x="185380" y="19050"/>
                </a:cubicBezTo>
                <a:close/>
                <a:moveTo>
                  <a:pt x="147638" y="66675"/>
                </a:moveTo>
                <a:cubicBezTo>
                  <a:pt x="155555" y="66675"/>
                  <a:pt x="161925" y="60305"/>
                  <a:pt x="161925" y="52388"/>
                </a:cubicBezTo>
                <a:cubicBezTo>
                  <a:pt x="161925" y="44470"/>
                  <a:pt x="155555" y="38100"/>
                  <a:pt x="147638" y="38100"/>
                </a:cubicBezTo>
                <a:lnTo>
                  <a:pt x="80962" y="38100"/>
                </a:lnTo>
                <a:cubicBezTo>
                  <a:pt x="73045" y="38100"/>
                  <a:pt x="66675" y="44470"/>
                  <a:pt x="66675" y="52388"/>
                </a:cubicBezTo>
                <a:cubicBezTo>
                  <a:pt x="66675" y="60305"/>
                  <a:pt x="73045" y="66675"/>
                  <a:pt x="80962" y="66675"/>
                </a:cubicBezTo>
                <a:lnTo>
                  <a:pt x="147638" y="66675"/>
                </a:lnTo>
                <a:close/>
                <a:moveTo>
                  <a:pt x="76200" y="152400"/>
                </a:moveTo>
                <a:cubicBezTo>
                  <a:pt x="76200" y="141886"/>
                  <a:pt x="67664" y="133350"/>
                  <a:pt x="57150" y="133350"/>
                </a:cubicBezTo>
                <a:cubicBezTo>
                  <a:pt x="46636" y="133350"/>
                  <a:pt x="38100" y="141886"/>
                  <a:pt x="38100" y="152400"/>
                </a:cubicBezTo>
                <a:cubicBezTo>
                  <a:pt x="38100" y="162914"/>
                  <a:pt x="46636" y="171450"/>
                  <a:pt x="57150" y="171450"/>
                </a:cubicBezTo>
                <a:cubicBezTo>
                  <a:pt x="67664" y="171450"/>
                  <a:pt x="76200" y="162914"/>
                  <a:pt x="76200" y="152400"/>
                </a:cubicBezTo>
                <a:close/>
                <a:moveTo>
                  <a:pt x="95250" y="152400"/>
                </a:moveTo>
                <a:cubicBezTo>
                  <a:pt x="95250" y="160318"/>
                  <a:pt x="101620" y="166688"/>
                  <a:pt x="109537" y="166688"/>
                </a:cubicBezTo>
                <a:lnTo>
                  <a:pt x="176212" y="166688"/>
                </a:lnTo>
                <a:cubicBezTo>
                  <a:pt x="184130" y="166688"/>
                  <a:pt x="190500" y="160318"/>
                  <a:pt x="190500" y="152400"/>
                </a:cubicBezTo>
                <a:cubicBezTo>
                  <a:pt x="190500" y="144482"/>
                  <a:pt x="184130" y="138113"/>
                  <a:pt x="176212" y="138113"/>
                </a:cubicBezTo>
                <a:lnTo>
                  <a:pt x="109537" y="138113"/>
                </a:lnTo>
                <a:cubicBezTo>
                  <a:pt x="101620" y="138113"/>
                  <a:pt x="95250" y="144482"/>
                  <a:pt x="95250" y="152400"/>
                </a:cubicBezTo>
                <a:close/>
                <a:moveTo>
                  <a:pt x="95250" y="228600"/>
                </a:moveTo>
                <a:cubicBezTo>
                  <a:pt x="95250" y="236518"/>
                  <a:pt x="101620" y="242888"/>
                  <a:pt x="109537" y="242888"/>
                </a:cubicBezTo>
                <a:lnTo>
                  <a:pt x="176212" y="242888"/>
                </a:lnTo>
                <a:cubicBezTo>
                  <a:pt x="184130" y="242888"/>
                  <a:pt x="190500" y="236518"/>
                  <a:pt x="190500" y="228600"/>
                </a:cubicBezTo>
                <a:cubicBezTo>
                  <a:pt x="190500" y="220682"/>
                  <a:pt x="184130" y="214313"/>
                  <a:pt x="176212" y="214313"/>
                </a:cubicBezTo>
                <a:lnTo>
                  <a:pt x="109537" y="214313"/>
                </a:lnTo>
                <a:cubicBezTo>
                  <a:pt x="101620" y="214313"/>
                  <a:pt x="95250" y="220682"/>
                  <a:pt x="95250" y="228600"/>
                </a:cubicBezTo>
                <a:close/>
                <a:moveTo>
                  <a:pt x="57150" y="247650"/>
                </a:moveTo>
                <a:cubicBezTo>
                  <a:pt x="67664" y="247650"/>
                  <a:pt x="76200" y="239114"/>
                  <a:pt x="76200" y="228600"/>
                </a:cubicBezTo>
                <a:cubicBezTo>
                  <a:pt x="76200" y="218086"/>
                  <a:pt x="67664" y="209550"/>
                  <a:pt x="57150" y="209550"/>
                </a:cubicBezTo>
                <a:cubicBezTo>
                  <a:pt x="46636" y="209550"/>
                  <a:pt x="38100" y="218086"/>
                  <a:pt x="38100" y="228600"/>
                </a:cubicBezTo>
                <a:cubicBezTo>
                  <a:pt x="38100" y="239114"/>
                  <a:pt x="46636" y="247650"/>
                  <a:pt x="57150" y="24765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29C80A3-F6F5-F6AB-5DA2-010AC0476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00" y="1652101"/>
            <a:ext cx="3209731" cy="5065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hape 7">
            <a:extLst>
              <a:ext uri="{FF2B5EF4-FFF2-40B4-BE49-F238E27FC236}">
                <a16:creationId xmlns:a16="http://schemas.microsoft.com/office/drawing/2014/main" id="{173BCA63-9A70-DCE3-1886-AC1E8EBA3DE7}"/>
              </a:ext>
            </a:extLst>
          </p:cNvPr>
          <p:cNvSpPr/>
          <p:nvPr/>
        </p:nvSpPr>
        <p:spPr>
          <a:xfrm>
            <a:off x="4759718" y="1943595"/>
            <a:ext cx="5283200" cy="737652"/>
          </a:xfrm>
          <a:custGeom>
            <a:avLst/>
            <a:gdLst/>
            <a:ahLst/>
            <a:cxnLst/>
            <a:rect l="l" t="t" r="r" b="b"/>
            <a:pathLst>
              <a:path w="5283200" h="1219200">
                <a:moveTo>
                  <a:pt x="101596" y="0"/>
                </a:moveTo>
                <a:lnTo>
                  <a:pt x="5181604" y="0"/>
                </a:lnTo>
                <a:cubicBezTo>
                  <a:pt x="5237714" y="0"/>
                  <a:pt x="5283200" y="45486"/>
                  <a:pt x="5283200" y="101596"/>
                </a:cubicBezTo>
                <a:lnTo>
                  <a:pt x="5283200" y="1117604"/>
                </a:lnTo>
                <a:cubicBezTo>
                  <a:pt x="5283200" y="1173714"/>
                  <a:pt x="5237714" y="1219200"/>
                  <a:pt x="51816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3068DB">
              <a:alpha val="10196"/>
            </a:srgbClr>
          </a:solidFill>
          <a:ln/>
        </p:spPr>
        <p:txBody>
          <a:bodyPr/>
          <a:lstStyle/>
          <a:p>
            <a:r>
              <a:rPr lang="ja-JP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ユーザーは </a:t>
            </a:r>
            <a:r>
              <a:rPr lang="en-US" altLang="ja-JP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Web</a:t>
            </a:r>
            <a:r>
              <a:rPr lang="ja-JP" altLang="en-US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ブラウザだけ</a:t>
            </a:r>
            <a:r>
              <a:rPr lang="ja-JP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 で </a:t>
            </a:r>
            <a:r>
              <a:rPr lang="en-US" altLang="ja-JP" dirty="0">
                <a:latin typeface="Noto Sans SC" panose="020B0200000000000000" pitchFamily="34" charset="-122"/>
                <a:ea typeface="Noto Sans SC" panose="020B0200000000000000" pitchFamily="34" charset="-122"/>
              </a:rPr>
              <a:t>Guacamole </a:t>
            </a:r>
            <a:r>
              <a:rPr lang="ja-JP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サーバに接続 → クライアントソフト不要。</a:t>
            </a:r>
            <a:endParaRPr lang="en-US" altLang="ja-JP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0744EB24-897E-06C1-ECE7-CE6569AE773E}"/>
              </a:ext>
            </a:extLst>
          </p:cNvPr>
          <p:cNvSpPr/>
          <p:nvPr/>
        </p:nvSpPr>
        <p:spPr>
          <a:xfrm>
            <a:off x="4934736" y="3374686"/>
            <a:ext cx="5283200" cy="737652"/>
          </a:xfrm>
          <a:custGeom>
            <a:avLst/>
            <a:gdLst/>
            <a:ahLst/>
            <a:cxnLst/>
            <a:rect l="l" t="t" r="r" b="b"/>
            <a:pathLst>
              <a:path w="5283200" h="1219200">
                <a:moveTo>
                  <a:pt x="101596" y="0"/>
                </a:moveTo>
                <a:lnTo>
                  <a:pt x="5181604" y="0"/>
                </a:lnTo>
                <a:cubicBezTo>
                  <a:pt x="5237714" y="0"/>
                  <a:pt x="5283200" y="45486"/>
                  <a:pt x="5283200" y="101596"/>
                </a:cubicBezTo>
                <a:lnTo>
                  <a:pt x="5283200" y="1117604"/>
                </a:lnTo>
                <a:cubicBezTo>
                  <a:pt x="5283200" y="1173714"/>
                  <a:pt x="5237714" y="1219200"/>
                  <a:pt x="51816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3068DB">
              <a:alpha val="10196"/>
            </a:srgbClr>
          </a:solidFill>
          <a:ln/>
        </p:spPr>
        <p:txBody>
          <a:bodyPr/>
          <a:lstStyle/>
          <a:p>
            <a:r>
              <a:rPr lang="ja-JP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ブラウザ側の </a:t>
            </a:r>
            <a:r>
              <a:rPr lang="en-US" altLang="ja-JP" dirty="0">
                <a:latin typeface="Noto Sans SC" panose="020B0200000000000000" pitchFamily="34" charset="-122"/>
                <a:ea typeface="Noto Sans SC" panose="020B0200000000000000" pitchFamily="34" charset="-122"/>
              </a:rPr>
              <a:t>JavaScript </a:t>
            </a:r>
            <a:r>
              <a:rPr lang="ja-JP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クライアントが読み込まれる→ </a:t>
            </a:r>
            <a:r>
              <a:rPr lang="en-US" altLang="ja-JP" dirty="0">
                <a:latin typeface="Noto Sans SC" panose="020B0200000000000000" pitchFamily="34" charset="-122"/>
                <a:ea typeface="Noto Sans SC" panose="020B0200000000000000" pitchFamily="34" charset="-122"/>
              </a:rPr>
              <a:t>Guacamole </a:t>
            </a:r>
            <a:r>
              <a:rPr lang="ja-JP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プロトコルでサーバと通信。</a:t>
            </a:r>
            <a:endParaRPr lang="zh-CN" altLang="en-US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30" name="Shape 7">
            <a:extLst>
              <a:ext uri="{FF2B5EF4-FFF2-40B4-BE49-F238E27FC236}">
                <a16:creationId xmlns:a16="http://schemas.microsoft.com/office/drawing/2014/main" id="{FCA1F8FE-DD36-3F8C-B7DC-3B8C1A245C8B}"/>
              </a:ext>
            </a:extLst>
          </p:cNvPr>
          <p:cNvSpPr/>
          <p:nvPr/>
        </p:nvSpPr>
        <p:spPr>
          <a:xfrm>
            <a:off x="5497683" y="4672563"/>
            <a:ext cx="5283200" cy="1121747"/>
          </a:xfrm>
          <a:custGeom>
            <a:avLst/>
            <a:gdLst/>
            <a:ahLst/>
            <a:cxnLst/>
            <a:rect l="l" t="t" r="r" b="b"/>
            <a:pathLst>
              <a:path w="5283200" h="1219200">
                <a:moveTo>
                  <a:pt x="101596" y="0"/>
                </a:moveTo>
                <a:lnTo>
                  <a:pt x="5181604" y="0"/>
                </a:lnTo>
                <a:cubicBezTo>
                  <a:pt x="5237714" y="0"/>
                  <a:pt x="5283200" y="45486"/>
                  <a:pt x="5283200" y="101596"/>
                </a:cubicBezTo>
                <a:lnTo>
                  <a:pt x="5283200" y="1117604"/>
                </a:lnTo>
                <a:cubicBezTo>
                  <a:pt x="5283200" y="1173714"/>
                  <a:pt x="5237714" y="1219200"/>
                  <a:pt x="51816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3068DB">
              <a:alpha val="10196"/>
            </a:srgbClr>
          </a:solidFill>
          <a:ln/>
        </p:spPr>
        <p:txBody>
          <a:bodyPr/>
          <a:lstStyle/>
          <a:p>
            <a:r>
              <a:rPr lang="ja-JP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サーバ側では </a:t>
            </a:r>
            <a:r>
              <a:rPr lang="en-US" altLang="ja-JP" b="1" dirty="0" err="1">
                <a:latin typeface="Noto Sans SC" panose="020B0200000000000000" pitchFamily="34" charset="-122"/>
                <a:ea typeface="Noto Sans SC" panose="020B0200000000000000" pitchFamily="34" charset="-122"/>
              </a:rPr>
              <a:t>guacd</a:t>
            </a:r>
            <a:r>
              <a:rPr lang="ja-JP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 が動作し、</a:t>
            </a:r>
            <a:r>
              <a:rPr lang="en-US" altLang="ja-JP" dirty="0">
                <a:latin typeface="Noto Sans SC" panose="020B0200000000000000" pitchFamily="34" charset="-122"/>
                <a:ea typeface="Noto Sans SC" panose="020B0200000000000000" pitchFamily="34" charset="-122"/>
              </a:rPr>
              <a:t>RDP</a:t>
            </a:r>
            <a:r>
              <a:rPr lang="ja-JP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／</a:t>
            </a:r>
            <a:r>
              <a:rPr lang="en-US" altLang="ja-JP" dirty="0">
                <a:latin typeface="Noto Sans SC" panose="020B0200000000000000" pitchFamily="34" charset="-122"/>
                <a:ea typeface="Noto Sans SC" panose="020B0200000000000000" pitchFamily="34" charset="-122"/>
              </a:rPr>
              <a:t>VNC</a:t>
            </a:r>
            <a:r>
              <a:rPr lang="ja-JP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／</a:t>
            </a:r>
            <a:r>
              <a:rPr lang="en-US" altLang="ja-JP" dirty="0">
                <a:latin typeface="Noto Sans SC" panose="020B0200000000000000" pitchFamily="34" charset="-122"/>
                <a:ea typeface="Noto Sans SC" panose="020B0200000000000000" pitchFamily="34" charset="-122"/>
              </a:rPr>
              <a:t>SSH </a:t>
            </a:r>
            <a:r>
              <a:rPr lang="ja-JP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などのネイティブプロトコルと </a:t>
            </a:r>
            <a:r>
              <a:rPr lang="en-US" altLang="ja-JP" dirty="0">
                <a:latin typeface="Noto Sans SC" panose="020B0200000000000000" pitchFamily="34" charset="-122"/>
                <a:ea typeface="Noto Sans SC" panose="020B0200000000000000" pitchFamily="34" charset="-122"/>
              </a:rPr>
              <a:t>Guacamole </a:t>
            </a:r>
            <a:r>
              <a:rPr lang="ja-JP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プロトコルの間を翻訳／中継。</a:t>
            </a:r>
            <a:endParaRPr lang="zh-CN" altLang="en-US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0880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kimi-img.moonshot.cn/pub/slides/slides_tmpl/image/25-09-05-18:06:13-d2tbc5dnfo2stf9djov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920000" flipH="1">
            <a:off x="10808335" y="-596265"/>
            <a:ext cx="2172335" cy="217678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3-d2tbc5dnfo2stf9djov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82955" y="5003800"/>
            <a:ext cx="1850390" cy="185420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8:06:13-d2tbc5dnfo2stf9djo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34290" y="183515"/>
            <a:ext cx="547370" cy="96393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58750" y="17018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0C3C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システム構成と接続フロー</a:t>
            </a:r>
            <a:endParaRPr lang="en-US" sz="1600" dirty="0"/>
          </a:p>
        </p:txBody>
      </p:sp>
      <p:sp>
        <p:nvSpPr>
          <p:cNvPr id="8" name="Shape 1"/>
          <p:cNvSpPr/>
          <p:nvPr/>
        </p:nvSpPr>
        <p:spPr>
          <a:xfrm>
            <a:off x="1076960" y="2565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8BACF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2"/>
          <p:cNvSpPr/>
          <p:nvPr/>
        </p:nvSpPr>
        <p:spPr>
          <a:xfrm>
            <a:off x="1356360" y="2844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314325"/>
                </a:lnTo>
                <a:cubicBezTo>
                  <a:pt x="0" y="345847"/>
                  <a:pt x="25628" y="371475"/>
                  <a:pt x="57150" y="371475"/>
                </a:cubicBezTo>
                <a:lnTo>
                  <a:pt x="185738" y="371475"/>
                </a:lnTo>
                <a:lnTo>
                  <a:pt x="171450" y="414338"/>
                </a:lnTo>
                <a:lnTo>
                  <a:pt x="107156" y="414338"/>
                </a:lnTo>
                <a:cubicBezTo>
                  <a:pt x="95280" y="414338"/>
                  <a:pt x="85725" y="423892"/>
                  <a:pt x="85725" y="435769"/>
                </a:cubicBezTo>
                <a:cubicBezTo>
                  <a:pt x="85725" y="447645"/>
                  <a:pt x="95280" y="457200"/>
                  <a:pt x="107156" y="457200"/>
                </a:cubicBezTo>
                <a:lnTo>
                  <a:pt x="350044" y="457200"/>
                </a:lnTo>
                <a:cubicBezTo>
                  <a:pt x="361920" y="457200"/>
                  <a:pt x="371475" y="447645"/>
                  <a:pt x="371475" y="435769"/>
                </a:cubicBezTo>
                <a:cubicBezTo>
                  <a:pt x="371475" y="423892"/>
                  <a:pt x="361920" y="414338"/>
                  <a:pt x="350044" y="414338"/>
                </a:cubicBezTo>
                <a:lnTo>
                  <a:pt x="285750" y="414338"/>
                </a:lnTo>
                <a:lnTo>
                  <a:pt x="271463" y="371475"/>
                </a:lnTo>
                <a:lnTo>
                  <a:pt x="400050" y="371475"/>
                </a:lnTo>
                <a:cubicBezTo>
                  <a:pt x="431572" y="371475"/>
                  <a:pt x="457200" y="345847"/>
                  <a:pt x="457200" y="314325"/>
                </a:cubicBezTo>
                <a:lnTo>
                  <a:pt x="457200" y="85725"/>
                </a:lnTo>
                <a:cubicBezTo>
                  <a:pt x="457200" y="54203"/>
                  <a:pt x="431572" y="28575"/>
                  <a:pt x="400050" y="28575"/>
                </a:cubicBezTo>
                <a:lnTo>
                  <a:pt x="57150" y="28575"/>
                </a:lnTo>
                <a:close/>
                <a:moveTo>
                  <a:pt x="85725" y="85725"/>
                </a:moveTo>
                <a:lnTo>
                  <a:pt x="371475" y="85725"/>
                </a:lnTo>
                <a:cubicBezTo>
                  <a:pt x="387281" y="85725"/>
                  <a:pt x="400050" y="98494"/>
                  <a:pt x="400050" y="114300"/>
                </a:cubicBezTo>
                <a:lnTo>
                  <a:pt x="400050" y="257175"/>
                </a:lnTo>
                <a:cubicBezTo>
                  <a:pt x="400050" y="272981"/>
                  <a:pt x="387281" y="285750"/>
                  <a:pt x="371475" y="285750"/>
                </a:cubicBezTo>
                <a:lnTo>
                  <a:pt x="85725" y="285750"/>
                </a:lnTo>
                <a:cubicBezTo>
                  <a:pt x="69919" y="285750"/>
                  <a:pt x="57150" y="272981"/>
                  <a:pt x="57150" y="257175"/>
                </a:cubicBezTo>
                <a:lnTo>
                  <a:pt x="57150" y="114300"/>
                </a:lnTo>
                <a:cubicBezTo>
                  <a:pt x="57150" y="98494"/>
                  <a:pt x="69919" y="85725"/>
                  <a:pt x="85725" y="8572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3"/>
          <p:cNvSpPr/>
          <p:nvPr/>
        </p:nvSpPr>
        <p:spPr>
          <a:xfrm>
            <a:off x="406400" y="3683000"/>
            <a:ext cx="236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 </a:t>
            </a:r>
            <a:r>
              <a:rPr lang="en-US" sz="1600" b="1" dirty="0" err="1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ユーザブラウザ</a:t>
            </a:r>
            <a:r>
              <a:rPr lang="en-US" altLang="ja-JP" sz="16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/PAM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419100" y="3987800"/>
            <a:ext cx="2336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zh-CN" sz="1200" dirty="0" err="1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PAM</a:t>
            </a:r>
            <a:r>
              <a:rPr lang="en-US" sz="1200" dirty="0" err="1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にアクセス</a:t>
            </a: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2712720" y="3098642"/>
            <a:ext cx="749300" cy="50800"/>
          </a:xfrm>
          <a:custGeom>
            <a:avLst/>
            <a:gdLst/>
            <a:ahLst/>
            <a:cxnLst/>
            <a:rect l="l" t="t" r="r" b="b"/>
            <a:pathLst>
              <a:path w="749300" h="50800">
                <a:moveTo>
                  <a:pt x="0" y="0"/>
                </a:moveTo>
                <a:lnTo>
                  <a:pt x="749300" y="0"/>
                </a:lnTo>
                <a:lnTo>
                  <a:pt x="7493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8BACF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6"/>
          <p:cNvSpPr/>
          <p:nvPr/>
        </p:nvSpPr>
        <p:spPr>
          <a:xfrm>
            <a:off x="4084320" y="2565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8BACF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7"/>
          <p:cNvSpPr/>
          <p:nvPr/>
        </p:nvSpPr>
        <p:spPr>
          <a:xfrm>
            <a:off x="4392295" y="28448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142875"/>
                </a:lnTo>
                <a:cubicBezTo>
                  <a:pt x="0" y="174397"/>
                  <a:pt x="25628" y="200025"/>
                  <a:pt x="57150" y="200025"/>
                </a:cubicBezTo>
                <a:lnTo>
                  <a:pt x="342900" y="200025"/>
                </a:lnTo>
                <a:cubicBezTo>
                  <a:pt x="374422" y="200025"/>
                  <a:pt x="400050" y="174397"/>
                  <a:pt x="400050" y="142875"/>
                </a:cubicBezTo>
                <a:lnTo>
                  <a:pt x="400050" y="85725"/>
                </a:lnTo>
                <a:cubicBezTo>
                  <a:pt x="400050" y="54203"/>
                  <a:pt x="374422" y="28575"/>
                  <a:pt x="342900" y="28575"/>
                </a:cubicBezTo>
                <a:lnTo>
                  <a:pt x="57150" y="28575"/>
                </a:lnTo>
                <a:close/>
                <a:moveTo>
                  <a:pt x="250031" y="92869"/>
                </a:moveTo>
                <a:cubicBezTo>
                  <a:pt x="261859" y="92869"/>
                  <a:pt x="271463" y="102472"/>
                  <a:pt x="271463" y="114300"/>
                </a:cubicBezTo>
                <a:cubicBezTo>
                  <a:pt x="271463" y="126128"/>
                  <a:pt x="261859" y="135731"/>
                  <a:pt x="250031" y="135731"/>
                </a:cubicBezTo>
                <a:cubicBezTo>
                  <a:pt x="238203" y="135731"/>
                  <a:pt x="228600" y="126128"/>
                  <a:pt x="228600" y="114300"/>
                </a:cubicBezTo>
                <a:cubicBezTo>
                  <a:pt x="228600" y="102472"/>
                  <a:pt x="238203" y="92869"/>
                  <a:pt x="250031" y="92869"/>
                </a:cubicBezTo>
                <a:close/>
                <a:moveTo>
                  <a:pt x="300038" y="114300"/>
                </a:moveTo>
                <a:cubicBezTo>
                  <a:pt x="300038" y="102472"/>
                  <a:pt x="309641" y="92869"/>
                  <a:pt x="321469" y="92869"/>
                </a:cubicBezTo>
                <a:cubicBezTo>
                  <a:pt x="333297" y="92869"/>
                  <a:pt x="342900" y="102472"/>
                  <a:pt x="342900" y="114300"/>
                </a:cubicBezTo>
                <a:cubicBezTo>
                  <a:pt x="342900" y="126128"/>
                  <a:pt x="333297" y="135731"/>
                  <a:pt x="321469" y="135731"/>
                </a:cubicBezTo>
                <a:cubicBezTo>
                  <a:pt x="309641" y="135731"/>
                  <a:pt x="300038" y="126128"/>
                  <a:pt x="300038" y="114300"/>
                </a:cubicBezTo>
                <a:close/>
                <a:moveTo>
                  <a:pt x="57150" y="257175"/>
                </a:moveTo>
                <a:cubicBezTo>
                  <a:pt x="25628" y="257175"/>
                  <a:pt x="0" y="282803"/>
                  <a:pt x="0" y="31432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342900" y="428625"/>
                </a:lnTo>
                <a:cubicBezTo>
                  <a:pt x="374422" y="428625"/>
                  <a:pt x="400050" y="402997"/>
                  <a:pt x="400050" y="371475"/>
                </a:cubicBezTo>
                <a:lnTo>
                  <a:pt x="400050" y="314325"/>
                </a:lnTo>
                <a:cubicBezTo>
                  <a:pt x="400050" y="282803"/>
                  <a:pt x="374422" y="257175"/>
                  <a:pt x="342900" y="257175"/>
                </a:cubicBezTo>
                <a:lnTo>
                  <a:pt x="57150" y="257175"/>
                </a:lnTo>
                <a:close/>
                <a:moveTo>
                  <a:pt x="250031" y="321469"/>
                </a:moveTo>
                <a:cubicBezTo>
                  <a:pt x="261859" y="321469"/>
                  <a:pt x="271463" y="331072"/>
                  <a:pt x="271463" y="342900"/>
                </a:cubicBezTo>
                <a:cubicBezTo>
                  <a:pt x="271463" y="354728"/>
                  <a:pt x="261859" y="364331"/>
                  <a:pt x="250031" y="364331"/>
                </a:cubicBezTo>
                <a:cubicBezTo>
                  <a:pt x="238203" y="364331"/>
                  <a:pt x="228600" y="354728"/>
                  <a:pt x="228600" y="342900"/>
                </a:cubicBezTo>
                <a:cubicBezTo>
                  <a:pt x="228600" y="331072"/>
                  <a:pt x="238203" y="321469"/>
                  <a:pt x="250031" y="321469"/>
                </a:cubicBezTo>
                <a:close/>
                <a:moveTo>
                  <a:pt x="300038" y="342900"/>
                </a:moveTo>
                <a:cubicBezTo>
                  <a:pt x="300038" y="331072"/>
                  <a:pt x="309641" y="321469"/>
                  <a:pt x="321469" y="321469"/>
                </a:cubicBezTo>
                <a:cubicBezTo>
                  <a:pt x="333297" y="321469"/>
                  <a:pt x="342900" y="331072"/>
                  <a:pt x="342900" y="342900"/>
                </a:cubicBezTo>
                <a:cubicBezTo>
                  <a:pt x="342900" y="354728"/>
                  <a:pt x="333297" y="364331"/>
                  <a:pt x="321469" y="364331"/>
                </a:cubicBezTo>
                <a:cubicBezTo>
                  <a:pt x="309641" y="364331"/>
                  <a:pt x="300038" y="354728"/>
                  <a:pt x="300038" y="3429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8"/>
          <p:cNvSpPr/>
          <p:nvPr/>
        </p:nvSpPr>
        <p:spPr>
          <a:xfrm>
            <a:off x="3139267" y="3497228"/>
            <a:ext cx="2994660" cy="859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 </a:t>
            </a:r>
            <a:r>
              <a:rPr lang="en-US" altLang="ja-JP" sz="16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</a:t>
            </a:r>
            <a:r>
              <a:rPr lang="ja-JP" altLang="en-US" sz="16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　　　　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3462020" y="4190842"/>
            <a:ext cx="2336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17" name="Shape 10"/>
          <p:cNvSpPr/>
          <p:nvPr/>
        </p:nvSpPr>
        <p:spPr>
          <a:xfrm flipV="1">
            <a:off x="5322570" y="3137791"/>
            <a:ext cx="1666592" cy="45719"/>
          </a:xfrm>
          <a:custGeom>
            <a:avLst/>
            <a:gdLst/>
            <a:ahLst/>
            <a:cxnLst/>
            <a:rect l="l" t="t" r="r" b="b"/>
            <a:pathLst>
              <a:path w="749300" h="50800">
                <a:moveTo>
                  <a:pt x="0" y="0"/>
                </a:moveTo>
                <a:lnTo>
                  <a:pt x="749300" y="0"/>
                </a:lnTo>
                <a:lnTo>
                  <a:pt x="7493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8BACF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1"/>
          <p:cNvSpPr/>
          <p:nvPr/>
        </p:nvSpPr>
        <p:spPr>
          <a:xfrm>
            <a:off x="7091680" y="2565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8BACF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2"/>
          <p:cNvSpPr/>
          <p:nvPr/>
        </p:nvSpPr>
        <p:spPr>
          <a:xfrm>
            <a:off x="7313930" y="28448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71386" y="187970"/>
                </a:moveTo>
                <a:cubicBezTo>
                  <a:pt x="382280" y="185023"/>
                  <a:pt x="393710" y="190202"/>
                  <a:pt x="398621" y="200293"/>
                </a:cubicBezTo>
                <a:lnTo>
                  <a:pt x="415230" y="233869"/>
                </a:lnTo>
                <a:cubicBezTo>
                  <a:pt x="424428" y="235119"/>
                  <a:pt x="433447" y="237619"/>
                  <a:pt x="441930" y="241102"/>
                </a:cubicBezTo>
                <a:lnTo>
                  <a:pt x="473184" y="220295"/>
                </a:lnTo>
                <a:cubicBezTo>
                  <a:pt x="482560" y="214045"/>
                  <a:pt x="494973" y="215295"/>
                  <a:pt x="502920" y="223242"/>
                </a:cubicBezTo>
                <a:lnTo>
                  <a:pt x="520065" y="240387"/>
                </a:lnTo>
                <a:cubicBezTo>
                  <a:pt x="528012" y="248335"/>
                  <a:pt x="529263" y="260836"/>
                  <a:pt x="523012" y="270123"/>
                </a:cubicBezTo>
                <a:lnTo>
                  <a:pt x="502206" y="301288"/>
                </a:lnTo>
                <a:cubicBezTo>
                  <a:pt x="503902" y="305485"/>
                  <a:pt x="505420" y="309860"/>
                  <a:pt x="506670" y="314414"/>
                </a:cubicBezTo>
                <a:cubicBezTo>
                  <a:pt x="507921" y="318968"/>
                  <a:pt x="508724" y="323433"/>
                  <a:pt x="509349" y="327987"/>
                </a:cubicBezTo>
                <a:lnTo>
                  <a:pt x="543014" y="344597"/>
                </a:lnTo>
                <a:cubicBezTo>
                  <a:pt x="553105" y="349597"/>
                  <a:pt x="558284" y="361027"/>
                  <a:pt x="555337" y="371832"/>
                </a:cubicBezTo>
                <a:lnTo>
                  <a:pt x="549086" y="395228"/>
                </a:lnTo>
                <a:cubicBezTo>
                  <a:pt x="546140" y="406033"/>
                  <a:pt x="536049" y="413355"/>
                  <a:pt x="524798" y="412641"/>
                </a:cubicBezTo>
                <a:lnTo>
                  <a:pt x="487293" y="410230"/>
                </a:lnTo>
                <a:cubicBezTo>
                  <a:pt x="481667" y="417463"/>
                  <a:pt x="475149" y="424160"/>
                  <a:pt x="467737" y="429875"/>
                </a:cubicBezTo>
                <a:lnTo>
                  <a:pt x="470148" y="467291"/>
                </a:lnTo>
                <a:cubicBezTo>
                  <a:pt x="470862" y="478542"/>
                  <a:pt x="463540" y="488722"/>
                  <a:pt x="452735" y="491579"/>
                </a:cubicBezTo>
                <a:lnTo>
                  <a:pt x="429339" y="497830"/>
                </a:lnTo>
                <a:cubicBezTo>
                  <a:pt x="418445" y="500777"/>
                  <a:pt x="407104" y="495598"/>
                  <a:pt x="402104" y="485507"/>
                </a:cubicBezTo>
                <a:lnTo>
                  <a:pt x="385495" y="451931"/>
                </a:lnTo>
                <a:cubicBezTo>
                  <a:pt x="376297" y="450681"/>
                  <a:pt x="367278" y="448181"/>
                  <a:pt x="358795" y="444698"/>
                </a:cubicBezTo>
                <a:lnTo>
                  <a:pt x="327541" y="465505"/>
                </a:lnTo>
                <a:cubicBezTo>
                  <a:pt x="318165" y="471755"/>
                  <a:pt x="305753" y="470505"/>
                  <a:pt x="297805" y="462558"/>
                </a:cubicBezTo>
                <a:lnTo>
                  <a:pt x="280660" y="445413"/>
                </a:lnTo>
                <a:cubicBezTo>
                  <a:pt x="272713" y="437465"/>
                  <a:pt x="271463" y="425053"/>
                  <a:pt x="277713" y="415677"/>
                </a:cubicBezTo>
                <a:lnTo>
                  <a:pt x="298519" y="384423"/>
                </a:lnTo>
                <a:cubicBezTo>
                  <a:pt x="296823" y="380226"/>
                  <a:pt x="295305" y="375851"/>
                  <a:pt x="294055" y="371296"/>
                </a:cubicBezTo>
                <a:cubicBezTo>
                  <a:pt x="292804" y="366742"/>
                  <a:pt x="292001" y="362188"/>
                  <a:pt x="291376" y="357723"/>
                </a:cubicBezTo>
                <a:lnTo>
                  <a:pt x="257711" y="341114"/>
                </a:lnTo>
                <a:cubicBezTo>
                  <a:pt x="247620" y="336113"/>
                  <a:pt x="242530" y="324683"/>
                  <a:pt x="245388" y="313879"/>
                </a:cubicBezTo>
                <a:lnTo>
                  <a:pt x="251639" y="290483"/>
                </a:lnTo>
                <a:cubicBezTo>
                  <a:pt x="254585" y="279678"/>
                  <a:pt x="264676" y="272355"/>
                  <a:pt x="275927" y="273070"/>
                </a:cubicBezTo>
                <a:lnTo>
                  <a:pt x="313343" y="275481"/>
                </a:lnTo>
                <a:cubicBezTo>
                  <a:pt x="318968" y="268248"/>
                  <a:pt x="325487" y="261551"/>
                  <a:pt x="332899" y="255836"/>
                </a:cubicBezTo>
                <a:lnTo>
                  <a:pt x="330488" y="218509"/>
                </a:lnTo>
                <a:cubicBezTo>
                  <a:pt x="329773" y="207258"/>
                  <a:pt x="337096" y="197078"/>
                  <a:pt x="347901" y="194221"/>
                </a:cubicBezTo>
                <a:lnTo>
                  <a:pt x="371296" y="187970"/>
                </a:lnTo>
                <a:close/>
                <a:moveTo>
                  <a:pt x="400407" y="303609"/>
                </a:moveTo>
                <a:cubicBezTo>
                  <a:pt x="378722" y="303634"/>
                  <a:pt x="361137" y="321260"/>
                  <a:pt x="361161" y="342945"/>
                </a:cubicBezTo>
                <a:cubicBezTo>
                  <a:pt x="361186" y="364630"/>
                  <a:pt x="378811" y="382215"/>
                  <a:pt x="400496" y="382191"/>
                </a:cubicBezTo>
                <a:cubicBezTo>
                  <a:pt x="422182" y="382166"/>
                  <a:pt x="439767" y="364540"/>
                  <a:pt x="439742" y="342855"/>
                </a:cubicBezTo>
                <a:cubicBezTo>
                  <a:pt x="439718" y="321170"/>
                  <a:pt x="422092" y="303585"/>
                  <a:pt x="400407" y="303609"/>
                </a:cubicBezTo>
                <a:close/>
                <a:moveTo>
                  <a:pt x="200829" y="-40630"/>
                </a:moveTo>
                <a:lnTo>
                  <a:pt x="224224" y="-34379"/>
                </a:lnTo>
                <a:cubicBezTo>
                  <a:pt x="235029" y="-31433"/>
                  <a:pt x="242352" y="-21253"/>
                  <a:pt x="241637" y="-10091"/>
                </a:cubicBezTo>
                <a:lnTo>
                  <a:pt x="239226" y="27236"/>
                </a:lnTo>
                <a:cubicBezTo>
                  <a:pt x="246638" y="32951"/>
                  <a:pt x="253157" y="39559"/>
                  <a:pt x="258782" y="46881"/>
                </a:cubicBezTo>
                <a:lnTo>
                  <a:pt x="296287" y="44470"/>
                </a:lnTo>
                <a:cubicBezTo>
                  <a:pt x="307449" y="43755"/>
                  <a:pt x="317629" y="51078"/>
                  <a:pt x="320576" y="61883"/>
                </a:cubicBezTo>
                <a:lnTo>
                  <a:pt x="326827" y="85279"/>
                </a:lnTo>
                <a:cubicBezTo>
                  <a:pt x="329684" y="96083"/>
                  <a:pt x="324594" y="107513"/>
                  <a:pt x="314504" y="112514"/>
                </a:cubicBezTo>
                <a:lnTo>
                  <a:pt x="280839" y="129123"/>
                </a:lnTo>
                <a:cubicBezTo>
                  <a:pt x="280214" y="133677"/>
                  <a:pt x="279321" y="138232"/>
                  <a:pt x="278160" y="142696"/>
                </a:cubicBezTo>
                <a:cubicBezTo>
                  <a:pt x="276999" y="147161"/>
                  <a:pt x="275392" y="151626"/>
                  <a:pt x="273695" y="155823"/>
                </a:cubicBezTo>
                <a:lnTo>
                  <a:pt x="294501" y="187077"/>
                </a:lnTo>
                <a:cubicBezTo>
                  <a:pt x="300752" y="196453"/>
                  <a:pt x="299502" y="208865"/>
                  <a:pt x="291554" y="216813"/>
                </a:cubicBezTo>
                <a:lnTo>
                  <a:pt x="274409" y="233958"/>
                </a:lnTo>
                <a:cubicBezTo>
                  <a:pt x="266462" y="241905"/>
                  <a:pt x="254050" y="243155"/>
                  <a:pt x="244673" y="236905"/>
                </a:cubicBezTo>
                <a:lnTo>
                  <a:pt x="213420" y="216098"/>
                </a:lnTo>
                <a:cubicBezTo>
                  <a:pt x="204936" y="219581"/>
                  <a:pt x="195917" y="222081"/>
                  <a:pt x="186720" y="223331"/>
                </a:cubicBezTo>
                <a:lnTo>
                  <a:pt x="170111" y="256907"/>
                </a:lnTo>
                <a:cubicBezTo>
                  <a:pt x="165110" y="266998"/>
                  <a:pt x="153680" y="272088"/>
                  <a:pt x="142875" y="269230"/>
                </a:cubicBezTo>
                <a:lnTo>
                  <a:pt x="119479" y="262979"/>
                </a:lnTo>
                <a:cubicBezTo>
                  <a:pt x="108585" y="260033"/>
                  <a:pt x="101352" y="249853"/>
                  <a:pt x="102066" y="238691"/>
                </a:cubicBezTo>
                <a:lnTo>
                  <a:pt x="104477" y="201275"/>
                </a:lnTo>
                <a:cubicBezTo>
                  <a:pt x="97066" y="195560"/>
                  <a:pt x="90547" y="188952"/>
                  <a:pt x="84921" y="181630"/>
                </a:cubicBezTo>
                <a:lnTo>
                  <a:pt x="47417" y="184041"/>
                </a:lnTo>
                <a:cubicBezTo>
                  <a:pt x="36255" y="184755"/>
                  <a:pt x="26075" y="177433"/>
                  <a:pt x="23128" y="166628"/>
                </a:cubicBezTo>
                <a:lnTo>
                  <a:pt x="16877" y="143232"/>
                </a:lnTo>
                <a:cubicBezTo>
                  <a:pt x="14020" y="132427"/>
                  <a:pt x="19110" y="120997"/>
                  <a:pt x="29200" y="115997"/>
                </a:cubicBezTo>
                <a:lnTo>
                  <a:pt x="62865" y="99387"/>
                </a:lnTo>
                <a:cubicBezTo>
                  <a:pt x="63490" y="94833"/>
                  <a:pt x="64383" y="90368"/>
                  <a:pt x="65544" y="85814"/>
                </a:cubicBezTo>
                <a:cubicBezTo>
                  <a:pt x="66794" y="81260"/>
                  <a:pt x="68223" y="76885"/>
                  <a:pt x="70009" y="72688"/>
                </a:cubicBezTo>
                <a:lnTo>
                  <a:pt x="49203" y="41523"/>
                </a:lnTo>
                <a:cubicBezTo>
                  <a:pt x="42952" y="32147"/>
                  <a:pt x="44202" y="19735"/>
                  <a:pt x="52149" y="11787"/>
                </a:cubicBezTo>
                <a:lnTo>
                  <a:pt x="69294" y="-5358"/>
                </a:lnTo>
                <a:cubicBezTo>
                  <a:pt x="77242" y="-13305"/>
                  <a:pt x="89654" y="-14555"/>
                  <a:pt x="99030" y="-8305"/>
                </a:cubicBezTo>
                <a:lnTo>
                  <a:pt x="130284" y="12502"/>
                </a:lnTo>
                <a:cubicBezTo>
                  <a:pt x="138767" y="9019"/>
                  <a:pt x="147786" y="6519"/>
                  <a:pt x="156984" y="5269"/>
                </a:cubicBezTo>
                <a:lnTo>
                  <a:pt x="173593" y="-28307"/>
                </a:lnTo>
                <a:cubicBezTo>
                  <a:pt x="178594" y="-38398"/>
                  <a:pt x="189934" y="-43488"/>
                  <a:pt x="200829" y="-40630"/>
                </a:cubicBezTo>
                <a:close/>
                <a:moveTo>
                  <a:pt x="171807" y="75009"/>
                </a:moveTo>
                <a:cubicBezTo>
                  <a:pt x="150122" y="75009"/>
                  <a:pt x="132517" y="92615"/>
                  <a:pt x="132517" y="114300"/>
                </a:cubicBezTo>
                <a:cubicBezTo>
                  <a:pt x="132517" y="135985"/>
                  <a:pt x="150122" y="153591"/>
                  <a:pt x="171807" y="153591"/>
                </a:cubicBezTo>
                <a:cubicBezTo>
                  <a:pt x="193492" y="153591"/>
                  <a:pt x="211098" y="135985"/>
                  <a:pt x="211098" y="114300"/>
                </a:cubicBezTo>
                <a:cubicBezTo>
                  <a:pt x="211098" y="92615"/>
                  <a:pt x="193492" y="75009"/>
                  <a:pt x="171807" y="7500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3"/>
          <p:cNvSpPr/>
          <p:nvPr/>
        </p:nvSpPr>
        <p:spPr>
          <a:xfrm>
            <a:off x="6421120" y="3683000"/>
            <a:ext cx="2362200" cy="805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 </a:t>
            </a:r>
            <a:r>
              <a:rPr lang="en-US" altLang="zh-CN" sz="1600" b="1" dirty="0" err="1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</a:rPr>
              <a:t>gucamole</a:t>
            </a:r>
            <a:r>
              <a:rPr lang="ja-JP" altLang="en-US" sz="16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</a:rPr>
              <a:t>サーバ</a:t>
            </a:r>
            <a:br>
              <a:rPr lang="en-US" altLang="ja-JP" sz="16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</a:rPr>
            </a:br>
            <a:r>
              <a:rPr lang="ja-JP" altLang="en-US" sz="16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</a:rPr>
              <a:t>＋</a:t>
            </a:r>
            <a:r>
              <a:rPr lang="en-US" sz="1600" b="1" dirty="0" err="1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guacd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6504594" y="4518709"/>
            <a:ext cx="2336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 err="1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接続確立</a:t>
            </a: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 flipV="1">
            <a:off x="8492028" y="3111467"/>
            <a:ext cx="1146810" cy="45719"/>
          </a:xfrm>
          <a:custGeom>
            <a:avLst/>
            <a:gdLst/>
            <a:ahLst/>
            <a:cxnLst/>
            <a:rect l="l" t="t" r="r" b="b"/>
            <a:pathLst>
              <a:path w="749300" h="50800">
                <a:moveTo>
                  <a:pt x="0" y="0"/>
                </a:moveTo>
                <a:lnTo>
                  <a:pt x="749300" y="0"/>
                </a:lnTo>
                <a:lnTo>
                  <a:pt x="7493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8BACF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16"/>
          <p:cNvSpPr/>
          <p:nvPr/>
        </p:nvSpPr>
        <p:spPr>
          <a:xfrm>
            <a:off x="10099040" y="2565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8BACF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17"/>
          <p:cNvSpPr/>
          <p:nvPr/>
        </p:nvSpPr>
        <p:spPr>
          <a:xfrm>
            <a:off x="10349865" y="28448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21456" y="78581"/>
                </a:moveTo>
                <a:lnTo>
                  <a:pt x="292894" y="78581"/>
                </a:lnTo>
                <a:lnTo>
                  <a:pt x="292894" y="121444"/>
                </a:lnTo>
                <a:lnTo>
                  <a:pt x="221456" y="121444"/>
                </a:lnTo>
                <a:lnTo>
                  <a:pt x="221456" y="78581"/>
                </a:lnTo>
                <a:close/>
                <a:moveTo>
                  <a:pt x="214313" y="28575"/>
                </a:moveTo>
                <a:cubicBezTo>
                  <a:pt x="190649" y="28575"/>
                  <a:pt x="171450" y="47774"/>
                  <a:pt x="171450" y="71438"/>
                </a:cubicBezTo>
                <a:lnTo>
                  <a:pt x="171450" y="128588"/>
                </a:lnTo>
                <a:cubicBezTo>
                  <a:pt x="171450" y="152251"/>
                  <a:pt x="190649" y="171450"/>
                  <a:pt x="214313" y="171450"/>
                </a:cubicBezTo>
                <a:lnTo>
                  <a:pt x="228600" y="171450"/>
                </a:lnTo>
                <a:lnTo>
                  <a:pt x="228600" y="200025"/>
                </a:lnTo>
                <a:lnTo>
                  <a:pt x="28575" y="200025"/>
                </a:lnTo>
                <a:cubicBezTo>
                  <a:pt x="12769" y="200025"/>
                  <a:pt x="0" y="212794"/>
                  <a:pt x="0" y="228600"/>
                </a:cubicBezTo>
                <a:cubicBezTo>
                  <a:pt x="0" y="244406"/>
                  <a:pt x="12769" y="257175"/>
                  <a:pt x="28575" y="257175"/>
                </a:cubicBezTo>
                <a:lnTo>
                  <a:pt x="114300" y="257175"/>
                </a:lnTo>
                <a:lnTo>
                  <a:pt x="114300" y="285750"/>
                </a:lnTo>
                <a:lnTo>
                  <a:pt x="100013" y="285750"/>
                </a:lnTo>
                <a:cubicBezTo>
                  <a:pt x="76349" y="285750"/>
                  <a:pt x="57150" y="304949"/>
                  <a:pt x="57150" y="328613"/>
                </a:cubicBezTo>
                <a:lnTo>
                  <a:pt x="57150" y="385763"/>
                </a:lnTo>
                <a:cubicBezTo>
                  <a:pt x="57150" y="409426"/>
                  <a:pt x="76349" y="428625"/>
                  <a:pt x="100013" y="428625"/>
                </a:cubicBezTo>
                <a:lnTo>
                  <a:pt x="185738" y="428625"/>
                </a:lnTo>
                <a:cubicBezTo>
                  <a:pt x="209401" y="428625"/>
                  <a:pt x="228600" y="409426"/>
                  <a:pt x="228600" y="385763"/>
                </a:cubicBezTo>
                <a:lnTo>
                  <a:pt x="228600" y="328613"/>
                </a:lnTo>
                <a:cubicBezTo>
                  <a:pt x="228600" y="304949"/>
                  <a:pt x="209401" y="285750"/>
                  <a:pt x="185738" y="285750"/>
                </a:cubicBezTo>
                <a:lnTo>
                  <a:pt x="171450" y="285750"/>
                </a:lnTo>
                <a:lnTo>
                  <a:pt x="171450" y="257175"/>
                </a:lnTo>
                <a:lnTo>
                  <a:pt x="342900" y="257175"/>
                </a:lnTo>
                <a:lnTo>
                  <a:pt x="342900" y="285750"/>
                </a:lnTo>
                <a:lnTo>
                  <a:pt x="328613" y="285750"/>
                </a:lnTo>
                <a:cubicBezTo>
                  <a:pt x="304949" y="285750"/>
                  <a:pt x="285750" y="304949"/>
                  <a:pt x="285750" y="328613"/>
                </a:cubicBezTo>
                <a:lnTo>
                  <a:pt x="285750" y="385763"/>
                </a:lnTo>
                <a:cubicBezTo>
                  <a:pt x="285750" y="409426"/>
                  <a:pt x="304949" y="428625"/>
                  <a:pt x="328613" y="428625"/>
                </a:cubicBezTo>
                <a:lnTo>
                  <a:pt x="414338" y="428625"/>
                </a:lnTo>
                <a:cubicBezTo>
                  <a:pt x="438001" y="428625"/>
                  <a:pt x="457200" y="409426"/>
                  <a:pt x="457200" y="385763"/>
                </a:cubicBezTo>
                <a:lnTo>
                  <a:pt x="457200" y="328613"/>
                </a:lnTo>
                <a:cubicBezTo>
                  <a:pt x="457200" y="304949"/>
                  <a:pt x="438001" y="285750"/>
                  <a:pt x="414338" y="285750"/>
                </a:cubicBezTo>
                <a:lnTo>
                  <a:pt x="400050" y="285750"/>
                </a:lnTo>
                <a:lnTo>
                  <a:pt x="400050" y="257175"/>
                </a:lnTo>
                <a:lnTo>
                  <a:pt x="485775" y="257175"/>
                </a:lnTo>
                <a:cubicBezTo>
                  <a:pt x="501581" y="257175"/>
                  <a:pt x="514350" y="244406"/>
                  <a:pt x="514350" y="228600"/>
                </a:cubicBezTo>
                <a:cubicBezTo>
                  <a:pt x="514350" y="212794"/>
                  <a:pt x="501581" y="200025"/>
                  <a:pt x="485775" y="200025"/>
                </a:cubicBezTo>
                <a:lnTo>
                  <a:pt x="285750" y="200025"/>
                </a:lnTo>
                <a:lnTo>
                  <a:pt x="285750" y="171450"/>
                </a:lnTo>
                <a:lnTo>
                  <a:pt x="300038" y="171450"/>
                </a:lnTo>
                <a:cubicBezTo>
                  <a:pt x="323701" y="171450"/>
                  <a:pt x="342900" y="152251"/>
                  <a:pt x="342900" y="128588"/>
                </a:cubicBezTo>
                <a:lnTo>
                  <a:pt x="342900" y="71438"/>
                </a:lnTo>
                <a:cubicBezTo>
                  <a:pt x="342900" y="47774"/>
                  <a:pt x="323701" y="28575"/>
                  <a:pt x="300038" y="28575"/>
                </a:cubicBezTo>
                <a:lnTo>
                  <a:pt x="214313" y="28575"/>
                </a:lnTo>
                <a:close/>
                <a:moveTo>
                  <a:pt x="400050" y="335756"/>
                </a:moveTo>
                <a:lnTo>
                  <a:pt x="407194" y="335756"/>
                </a:lnTo>
                <a:lnTo>
                  <a:pt x="407194" y="378619"/>
                </a:lnTo>
                <a:lnTo>
                  <a:pt x="335756" y="378619"/>
                </a:lnTo>
                <a:lnTo>
                  <a:pt x="335756" y="335756"/>
                </a:lnTo>
                <a:lnTo>
                  <a:pt x="400050" y="335756"/>
                </a:lnTo>
                <a:close/>
                <a:moveTo>
                  <a:pt x="171450" y="335756"/>
                </a:moveTo>
                <a:lnTo>
                  <a:pt x="178594" y="335756"/>
                </a:lnTo>
                <a:lnTo>
                  <a:pt x="178594" y="378619"/>
                </a:lnTo>
                <a:lnTo>
                  <a:pt x="107156" y="378619"/>
                </a:lnTo>
                <a:lnTo>
                  <a:pt x="107156" y="335756"/>
                </a:lnTo>
                <a:lnTo>
                  <a:pt x="171450" y="335756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18"/>
          <p:cNvSpPr/>
          <p:nvPr/>
        </p:nvSpPr>
        <p:spPr>
          <a:xfrm>
            <a:off x="9428480" y="3683000"/>
            <a:ext cx="236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4. </a:t>
            </a:r>
            <a:r>
              <a:rPr lang="ja-JP" altLang="en-US" sz="16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ターゲット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7897495" y="2778885"/>
            <a:ext cx="2336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RDP/SSH</a:t>
            </a:r>
            <a:r>
              <a:rPr lang="ja-JP" altLang="en-US" sz="12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で接続</a:t>
            </a:r>
            <a:endParaRPr lang="en-US" sz="1600" dirty="0"/>
          </a:p>
        </p:txBody>
      </p:sp>
      <p:sp>
        <p:nvSpPr>
          <p:cNvPr id="27" name="Shape 20"/>
          <p:cNvSpPr/>
          <p:nvPr/>
        </p:nvSpPr>
        <p:spPr>
          <a:xfrm>
            <a:off x="656098" y="5282884"/>
            <a:ext cx="10871200" cy="558800"/>
          </a:xfrm>
          <a:custGeom>
            <a:avLst/>
            <a:gdLst/>
            <a:ahLst/>
            <a:cxnLst/>
            <a:rect l="l" t="t" r="r" b="b"/>
            <a:pathLst>
              <a:path w="10871200" h="558800">
                <a:moveTo>
                  <a:pt x="101601" y="0"/>
                </a:moveTo>
                <a:lnTo>
                  <a:pt x="10769599" y="0"/>
                </a:lnTo>
                <a:cubicBezTo>
                  <a:pt x="10825712" y="0"/>
                  <a:pt x="10871200" y="45488"/>
                  <a:pt x="10871200" y="101601"/>
                </a:cubicBezTo>
                <a:lnTo>
                  <a:pt x="10871200" y="457199"/>
                </a:lnTo>
                <a:cubicBezTo>
                  <a:pt x="10871200" y="513312"/>
                  <a:pt x="10825712" y="558800"/>
                  <a:pt x="10769599" y="558800"/>
                </a:cubicBezTo>
                <a:lnTo>
                  <a:pt x="101601" y="558800"/>
                </a:lnTo>
                <a:cubicBezTo>
                  <a:pt x="45488" y="558800"/>
                  <a:pt x="0" y="513312"/>
                  <a:pt x="0" y="4571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0C3C8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1"/>
          <p:cNvSpPr/>
          <p:nvPr/>
        </p:nvSpPr>
        <p:spPr>
          <a:xfrm>
            <a:off x="307974" y="5435126"/>
            <a:ext cx="1065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構成イメージ: </a:t>
            </a:r>
            <a:r>
              <a:rPr lang="en-US" altLang="ja-JP" sz="1400" b="1" dirty="0">
                <a:solidFill>
                  <a:srgbClr val="0C3C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PAM</a:t>
            </a:r>
            <a:r>
              <a:rPr lang="en-US" altLang="zh-CN" sz="14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r>
              <a:rPr lang="en-US" altLang="ja-JP" sz="1400" b="1" dirty="0">
                <a:solidFill>
                  <a:srgbClr val="0C3C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</a:t>
            </a:r>
            <a:r>
              <a:rPr lang="en-US" sz="14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r>
              <a:rPr lang="en-US" sz="14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Guacamole API</a:t>
            </a:r>
            <a:r>
              <a:rPr lang="en-US" altLang="zh-CN" sz="14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r>
              <a:rPr lang="en-US" altLang="ja-JP" sz="14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guacamole</a:t>
            </a:r>
            <a:r>
              <a:rPr lang="en-US" sz="14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r>
              <a:rPr lang="en-US" sz="1400" b="1" dirty="0" err="1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guacd</a:t>
            </a:r>
            <a:r>
              <a:rPr lang="en-US" sz="14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r>
              <a:rPr lang="ja-JP" altLang="en-US" sz="1400" b="1" dirty="0">
                <a:solidFill>
                  <a:srgbClr val="0C3C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ターゲット</a:t>
            </a:r>
            <a:endParaRPr lang="en-US" sz="16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E9984E9C-5538-1658-FBE4-13F32AB31F72}"/>
              </a:ext>
            </a:extLst>
          </p:cNvPr>
          <p:cNvSpPr/>
          <p:nvPr/>
        </p:nvSpPr>
        <p:spPr>
          <a:xfrm>
            <a:off x="4890135" y="2794158"/>
            <a:ext cx="2336800" cy="260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zh-CN" sz="1200" dirty="0" err="1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APIで接続要求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kimi-img.moonshot.cn/pub/slides/slides_tmpl/image/25-09-05-18:06:13-d2tbc5dnfo2stf9djov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920000" flipH="1">
            <a:off x="10808335" y="-596265"/>
            <a:ext cx="2172335" cy="217678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3-d2tbc5dnfo2stf9djov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82955" y="5003800"/>
            <a:ext cx="1850390" cy="185420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8:06:13-d2tbc5dnfo2stf9djo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34290" y="183515"/>
            <a:ext cx="547370" cy="96393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056618" y="672246"/>
            <a:ext cx="7661469" cy="722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altLang="ja-JP" sz="3000" b="1" dirty="0">
                <a:solidFill>
                  <a:srgbClr val="0C3C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 </a:t>
            </a:r>
            <a:r>
              <a:rPr lang="ja-JP" altLang="en-US" sz="3000" b="1" dirty="0">
                <a:solidFill>
                  <a:srgbClr val="0C3C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が利用している </a:t>
            </a:r>
            <a:r>
              <a:rPr lang="en-US" altLang="ja-JP" sz="3000" b="1" dirty="0">
                <a:solidFill>
                  <a:srgbClr val="0C3C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Guacamole </a:t>
            </a:r>
            <a:r>
              <a:rPr lang="ja-JP" altLang="en-US" sz="3000" b="1" dirty="0">
                <a:solidFill>
                  <a:srgbClr val="0C3C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機能</a:t>
            </a:r>
            <a:endParaRPr lang="en-US" sz="1600" dirty="0"/>
          </a:p>
        </p:txBody>
      </p:sp>
      <p:graphicFrame>
        <p:nvGraphicFramePr>
          <p:cNvPr id="33" name="表格 32">
            <a:extLst>
              <a:ext uri="{FF2B5EF4-FFF2-40B4-BE49-F238E27FC236}">
                <a16:creationId xmlns:a16="http://schemas.microsoft.com/office/drawing/2014/main" id="{9CAC111C-1D97-2012-6AD6-416E875B47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917136"/>
              </p:ext>
            </p:extLst>
          </p:nvPr>
        </p:nvGraphicFramePr>
        <p:xfrm>
          <a:off x="717193" y="1380022"/>
          <a:ext cx="10757609" cy="50684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0521">
                  <a:extLst>
                    <a:ext uri="{9D8B030D-6E8A-4147-A177-3AD203B41FA5}">
                      <a16:colId xmlns:a16="http://schemas.microsoft.com/office/drawing/2014/main" val="165612869"/>
                    </a:ext>
                  </a:extLst>
                </a:gridCol>
                <a:gridCol w="4477445">
                  <a:extLst>
                    <a:ext uri="{9D8B030D-6E8A-4147-A177-3AD203B41FA5}">
                      <a16:colId xmlns:a16="http://schemas.microsoft.com/office/drawing/2014/main" val="2569969993"/>
                    </a:ext>
                  </a:extLst>
                </a:gridCol>
                <a:gridCol w="4019643">
                  <a:extLst>
                    <a:ext uri="{9D8B030D-6E8A-4147-A177-3AD203B41FA5}">
                      <a16:colId xmlns:a16="http://schemas.microsoft.com/office/drawing/2014/main" val="3398520647"/>
                    </a:ext>
                  </a:extLst>
                </a:gridCol>
              </a:tblGrid>
              <a:tr h="397006">
                <a:tc>
                  <a:txBody>
                    <a:bodyPr/>
                    <a:lstStyle/>
                    <a:p>
                      <a:r>
                        <a:rPr lang="en-US" altLang="ja-JP" dirty="0"/>
                        <a:t>RAG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Guacamole</a:t>
                      </a:r>
                      <a:r>
                        <a:rPr lang="ja-JP" altLang="en-US" dirty="0"/>
                        <a:t>（</a:t>
                      </a:r>
                      <a:r>
                        <a:rPr lang="en-US" altLang="ja-JP" dirty="0"/>
                        <a:t>API</a:t>
                      </a:r>
                      <a:r>
                        <a:rPr lang="ja-JP" altLang="en-US" dirty="0"/>
                        <a:t>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890683"/>
                  </a:ext>
                </a:extLst>
              </a:tr>
              <a:tr h="927934">
                <a:tc>
                  <a:txBody>
                    <a:bodyPr/>
                    <a:lstStyle/>
                    <a:p>
                      <a:r>
                        <a:rPr lang="ja-JP" altLang="en-US" dirty="0"/>
                        <a:t>ターゲット接続機能</a:t>
                      </a:r>
                      <a:r>
                        <a:rPr lang="en-US" altLang="ja-JP" dirty="0"/>
                        <a:t>(RDP/SSH)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RDP</a:t>
                      </a:r>
                      <a:r>
                        <a:rPr lang="ja-JP" altLang="en-US" dirty="0"/>
                        <a:t>、</a:t>
                      </a:r>
                      <a:r>
                        <a:rPr lang="en-US" altLang="ja-JP" dirty="0"/>
                        <a:t>SSH</a:t>
                      </a:r>
                      <a:r>
                        <a:rPr lang="ja-JP" altLang="en-US" dirty="0"/>
                        <a:t>のトンネル接続</a:t>
                      </a:r>
                      <a:r>
                        <a:rPr lang="en-US" altLang="ja-JP" dirty="0"/>
                        <a:t>(</a:t>
                      </a:r>
                      <a:r>
                        <a:rPr lang="en-US" altLang="ja-JP" dirty="0" err="1"/>
                        <a:t>websocket</a:t>
                      </a:r>
                      <a:r>
                        <a:rPr lang="en-US" altLang="ja-JP" dirty="0"/>
                        <a:t>)</a:t>
                      </a:r>
                    </a:p>
                    <a:p>
                      <a:r>
                        <a:rPr lang="ja-JP" altLang="en-US" dirty="0"/>
                        <a:t>ユーザ管理</a:t>
                      </a:r>
                      <a:r>
                        <a:rPr lang="en-US" altLang="ja-JP" dirty="0"/>
                        <a:t>(</a:t>
                      </a:r>
                      <a:r>
                        <a:rPr lang="ja-JP" altLang="en-US" dirty="0"/>
                        <a:t>登録・権限登録</a:t>
                      </a:r>
                      <a:r>
                        <a:rPr lang="en-US" altLang="ja-JP" dirty="0"/>
                        <a:t>)</a:t>
                      </a:r>
                      <a:br>
                        <a:rPr lang="en-US" altLang="ja-JP" dirty="0"/>
                      </a:br>
                      <a:r>
                        <a:rPr lang="ja-JP" altLang="en-US" dirty="0"/>
                        <a:t>接続管理</a:t>
                      </a:r>
                      <a:r>
                        <a:rPr lang="en-US" altLang="ja-JP" dirty="0"/>
                        <a:t>(</a:t>
                      </a:r>
                      <a:r>
                        <a:rPr lang="ja-JP" altLang="en-US" dirty="0"/>
                        <a:t>登録・更新</a:t>
                      </a:r>
                      <a:r>
                        <a:rPr lang="en-US" altLang="ja-JP" dirty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プロトコル接続を </a:t>
                      </a:r>
                      <a:r>
                        <a:rPr lang="en-US" altLang="ja-JP" dirty="0"/>
                        <a:t>Guacamole </a:t>
                      </a:r>
                      <a:r>
                        <a:rPr lang="ja-JP" altLang="en-US" dirty="0"/>
                        <a:t>のエンジンを利用、プロトコル処理・画面転送を </a:t>
                      </a:r>
                      <a:r>
                        <a:rPr lang="en-US" altLang="ja-JP" dirty="0"/>
                        <a:t>Guacamole </a:t>
                      </a:r>
                      <a:r>
                        <a:rPr lang="ja-JP" altLang="en-US" dirty="0"/>
                        <a:t>に依存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280189"/>
                  </a:ext>
                </a:extLst>
              </a:tr>
              <a:tr h="935878">
                <a:tc>
                  <a:txBody>
                    <a:bodyPr/>
                    <a:lstStyle/>
                    <a:p>
                      <a:r>
                        <a:rPr lang="ja-JP" altLang="en-US" dirty="0"/>
                        <a:t>セッション管理機能</a:t>
                      </a:r>
                      <a:br>
                        <a:rPr lang="en-US" altLang="ja-JP" dirty="0"/>
                      </a:br>
                      <a:r>
                        <a:rPr lang="ja-JP" altLang="en-US" dirty="0"/>
                        <a:t>セッション切断機能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履歴情報取得</a:t>
                      </a:r>
                      <a:br>
                        <a:rPr lang="en-US" altLang="ja-JP" dirty="0"/>
                      </a:br>
                      <a:r>
                        <a:rPr lang="ja-JP" altLang="en-US" dirty="0"/>
                        <a:t>アクティブセッション取得</a:t>
                      </a:r>
                      <a:br>
                        <a:rPr lang="en-US" altLang="ja-JP" dirty="0"/>
                      </a:br>
                      <a:r>
                        <a:rPr lang="ja-JP" altLang="en-US" dirty="0"/>
                        <a:t>アクティブセッション切断</a:t>
                      </a:r>
                      <a:endParaRPr lang="en-US" alt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セッション管理画面表示情報は</a:t>
                      </a:r>
                      <a:r>
                        <a:rPr lang="en-US" altLang="ja-JP" dirty="0"/>
                        <a:t>RAG</a:t>
                      </a:r>
                      <a:r>
                        <a:rPr lang="ja-JP" altLang="en-US" dirty="0"/>
                        <a:t>独自の</a:t>
                      </a:r>
                      <a:r>
                        <a:rPr lang="en-US" altLang="ja-JP" dirty="0"/>
                        <a:t>DB</a:t>
                      </a:r>
                      <a:r>
                        <a:rPr lang="ja-JP" altLang="en-US" dirty="0"/>
                        <a:t>の履歴情報で管理しています。</a:t>
                      </a:r>
                      <a:endParaRPr lang="en-US" altLang="ja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316202"/>
                  </a:ext>
                </a:extLst>
              </a:tr>
              <a:tr h="935878">
                <a:tc>
                  <a:txBody>
                    <a:bodyPr/>
                    <a:lstStyle/>
                    <a:p>
                      <a:r>
                        <a:rPr lang="ja-JP" altLang="en-US" dirty="0"/>
                        <a:t>セッション共有機能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共有プロファイル情報登録</a:t>
                      </a:r>
                      <a:br>
                        <a:rPr lang="en-US" altLang="ja-JP" dirty="0"/>
                      </a:br>
                      <a:r>
                        <a:rPr lang="ja-JP" altLang="en-US" dirty="0"/>
                        <a:t>共有プロファイルの</a:t>
                      </a:r>
                      <a:r>
                        <a:rPr lang="en-US" altLang="ja-JP" dirty="0"/>
                        <a:t>URL</a:t>
                      </a:r>
                      <a:r>
                        <a:rPr lang="ja-JP" altLang="en-US" dirty="0"/>
                        <a:t>取得</a:t>
                      </a:r>
                      <a:endParaRPr lang="en-US" alt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共有接続に</a:t>
                      </a:r>
                      <a:r>
                        <a:rPr lang="en-US" altLang="ja-JP" dirty="0" err="1"/>
                        <a:t>Gucamole</a:t>
                      </a:r>
                      <a:r>
                        <a:rPr lang="ja-JP" altLang="en-US" dirty="0"/>
                        <a:t>エンジンを利用しています。</a:t>
                      </a:r>
                      <a:endParaRPr lang="en-US" altLang="ja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917400"/>
                  </a:ext>
                </a:extLst>
              </a:tr>
              <a:tr h="935878">
                <a:tc>
                  <a:txBody>
                    <a:bodyPr/>
                    <a:lstStyle/>
                    <a:p>
                      <a:r>
                        <a:rPr lang="ja-JP" altLang="en-US" dirty="0"/>
                        <a:t>ファイル転送機能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RDP</a:t>
                      </a:r>
                      <a:r>
                        <a:rPr lang="ja-JP" altLang="en-US" dirty="0"/>
                        <a:t>：仮想ドライブ経由のファイル共有</a:t>
                      </a:r>
                      <a:br>
                        <a:rPr lang="ja-JP" altLang="en-US" dirty="0"/>
                      </a:br>
                      <a:r>
                        <a:rPr lang="en-US" altLang="ja-JP" dirty="0"/>
                        <a:t>SSH/SFTP</a:t>
                      </a:r>
                      <a:r>
                        <a:rPr lang="ja-JP" altLang="en-US" dirty="0"/>
                        <a:t>：</a:t>
                      </a:r>
                      <a:r>
                        <a:rPr lang="en-US" altLang="ja-JP" dirty="0"/>
                        <a:t>SFTP</a:t>
                      </a:r>
                      <a:r>
                        <a:rPr lang="ja-JP" altLang="en-US" dirty="0"/>
                        <a:t>プロトコルで転送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転送処理は</a:t>
                      </a:r>
                      <a:r>
                        <a:rPr lang="en-US" altLang="ja-JP" dirty="0"/>
                        <a:t>Guacamole</a:t>
                      </a:r>
                      <a:r>
                        <a:rPr lang="ja-JP" altLang="en-US" dirty="0"/>
                        <a:t>機能を利用、</a:t>
                      </a:r>
                      <a:r>
                        <a:rPr lang="en-US" altLang="ja-JP" dirty="0"/>
                        <a:t>RAG</a:t>
                      </a:r>
                      <a:r>
                        <a:rPr lang="ja-JP" altLang="en-US" dirty="0"/>
                        <a:t>は有効・無効の制御を追加しています。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967414"/>
                  </a:ext>
                </a:extLst>
              </a:tr>
              <a:tr h="9358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dirty="0"/>
                        <a:t>録画機能</a:t>
                      </a:r>
                      <a:endParaRPr lang="en-US" alt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画面録画</a:t>
                      </a:r>
                      <a:br>
                        <a:rPr lang="en-US" altLang="ja-JP" dirty="0"/>
                      </a:br>
                      <a:r>
                        <a:rPr lang="ja-JP" altLang="en-US" dirty="0"/>
                        <a:t>エンコーディング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Guacamole</a:t>
                      </a:r>
                      <a:r>
                        <a:rPr lang="ja-JP" altLang="en-US" dirty="0"/>
                        <a:t>の独自の録画ファイルを</a:t>
                      </a:r>
                      <a:r>
                        <a:rPr lang="en-US" altLang="ja-JP" dirty="0"/>
                        <a:t>MP4</a:t>
                      </a:r>
                      <a:r>
                        <a:rPr lang="ja-JP" altLang="en-US" dirty="0"/>
                        <a:t>へエンコードして</a:t>
                      </a:r>
                      <a:r>
                        <a:rPr lang="en-US" altLang="ja-JP" dirty="0"/>
                        <a:t>S3</a:t>
                      </a:r>
                      <a:r>
                        <a:rPr lang="ja-JP" altLang="en-US" dirty="0"/>
                        <a:t>で格納しています。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0093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kimi-img.moonshot.cn/pub/slides/slides_tmpl/image/25-09-05-18:06:13-d2tbc5dnfo2stf9djov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920000" flipH="1">
            <a:off x="10808335" y="-596265"/>
            <a:ext cx="2172335" cy="217678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3-d2tbc5dnfo2stf9djov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82955" y="5003800"/>
            <a:ext cx="1850390" cy="18542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8:06:14-d2tbc5lnfo2stf9djp50.png"/>
          <p:cNvPicPr>
            <a:picLocks noChangeAspect="1"/>
          </p:cNvPicPr>
          <p:nvPr/>
        </p:nvPicPr>
        <p:blipFill>
          <a:blip r:embed="rId4"/>
          <a:srcRect t="52708" r="29812"/>
          <a:stretch/>
        </p:blipFill>
        <p:spPr>
          <a:xfrm>
            <a:off x="7011670" y="0"/>
            <a:ext cx="5180330" cy="196342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8:06:13-d2tbc5dnfo2stf9djo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34290" y="183515"/>
            <a:ext cx="547370" cy="96393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976015" y="2537162"/>
            <a:ext cx="8239968" cy="1326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ja-JP" altLang="en-US" sz="3000" b="1" dirty="0">
                <a:solidFill>
                  <a:srgbClr val="0C3C84"/>
                </a:solidFill>
                <a:latin typeface="Noto Sans SC" pitchFamily="34" charset="0"/>
                <a:ea typeface="Noto Sans SC" pitchFamily="34" charset="-122"/>
              </a:rPr>
              <a:t>ご視聴ありがとうございました</a:t>
            </a:r>
            <a:endParaRPr lang="en-US" sz="1600" dirty="0"/>
          </a:p>
        </p:txBody>
      </p:sp>
      <p:sp>
        <p:nvSpPr>
          <p:cNvPr id="10" name="Shape 2"/>
          <p:cNvSpPr/>
          <p:nvPr/>
        </p:nvSpPr>
        <p:spPr>
          <a:xfrm>
            <a:off x="6629400" y="2514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47625"/>
                </a:moveTo>
                <a:lnTo>
                  <a:pt x="63500" y="39688"/>
                </a:lnTo>
                <a:cubicBezTo>
                  <a:pt x="63500" y="17760"/>
                  <a:pt x="106164" y="0"/>
                  <a:pt x="158750" y="0"/>
                </a:cubicBezTo>
                <a:cubicBezTo>
                  <a:pt x="211336" y="0"/>
                  <a:pt x="254000" y="17760"/>
                  <a:pt x="254000" y="39688"/>
                </a:cubicBezTo>
                <a:lnTo>
                  <a:pt x="254000" y="47625"/>
                </a:lnTo>
                <a:cubicBezTo>
                  <a:pt x="254000" y="62805"/>
                  <a:pt x="233511" y="76002"/>
                  <a:pt x="203398" y="82699"/>
                </a:cubicBezTo>
                <a:cubicBezTo>
                  <a:pt x="202208" y="81310"/>
                  <a:pt x="200968" y="79970"/>
                  <a:pt x="199727" y="78730"/>
                </a:cubicBezTo>
                <a:cubicBezTo>
                  <a:pt x="192038" y="71140"/>
                  <a:pt x="182116" y="65385"/>
                  <a:pt x="171748" y="61119"/>
                </a:cubicBezTo>
                <a:cubicBezTo>
                  <a:pt x="150961" y="52437"/>
                  <a:pt x="123875" y="47675"/>
                  <a:pt x="95250" y="47675"/>
                </a:cubicBezTo>
                <a:cubicBezTo>
                  <a:pt x="84386" y="47675"/>
                  <a:pt x="73769" y="48369"/>
                  <a:pt x="63599" y="49709"/>
                </a:cubicBezTo>
                <a:cubicBezTo>
                  <a:pt x="63500" y="49064"/>
                  <a:pt x="63500" y="48369"/>
                  <a:pt x="63500" y="47675"/>
                </a:cubicBezTo>
                <a:close/>
                <a:moveTo>
                  <a:pt x="214313" y="175121"/>
                </a:moveTo>
                <a:lnTo>
                  <a:pt x="214313" y="152202"/>
                </a:lnTo>
                <a:cubicBezTo>
                  <a:pt x="221804" y="150267"/>
                  <a:pt x="228848" y="147985"/>
                  <a:pt x="235248" y="145306"/>
                </a:cubicBezTo>
                <a:cubicBezTo>
                  <a:pt x="241796" y="142577"/>
                  <a:pt x="248196" y="139254"/>
                  <a:pt x="254000" y="135235"/>
                </a:cubicBezTo>
                <a:lnTo>
                  <a:pt x="254000" y="142875"/>
                </a:lnTo>
                <a:cubicBezTo>
                  <a:pt x="254000" y="156170"/>
                  <a:pt x="238373" y="167928"/>
                  <a:pt x="214313" y="175121"/>
                </a:cubicBezTo>
                <a:close/>
                <a:moveTo>
                  <a:pt x="214313" y="127496"/>
                </a:moveTo>
                <a:lnTo>
                  <a:pt x="214313" y="111125"/>
                </a:lnTo>
                <a:cubicBezTo>
                  <a:pt x="214313" y="108893"/>
                  <a:pt x="214114" y="106759"/>
                  <a:pt x="213816" y="104676"/>
                </a:cubicBezTo>
                <a:cubicBezTo>
                  <a:pt x="221506" y="102741"/>
                  <a:pt x="228699" y="100409"/>
                  <a:pt x="235248" y="97631"/>
                </a:cubicBezTo>
                <a:cubicBezTo>
                  <a:pt x="241796" y="94853"/>
                  <a:pt x="248196" y="91579"/>
                  <a:pt x="254000" y="87561"/>
                </a:cubicBezTo>
                <a:lnTo>
                  <a:pt x="254000" y="95200"/>
                </a:lnTo>
                <a:cubicBezTo>
                  <a:pt x="254000" y="108496"/>
                  <a:pt x="238373" y="120253"/>
                  <a:pt x="214313" y="127446"/>
                </a:cubicBezTo>
                <a:close/>
                <a:moveTo>
                  <a:pt x="0" y="119063"/>
                </a:moveTo>
                <a:lnTo>
                  <a:pt x="0" y="111125"/>
                </a:lnTo>
                <a:cubicBezTo>
                  <a:pt x="0" y="89198"/>
                  <a:pt x="42664" y="71438"/>
                  <a:pt x="95250" y="71438"/>
                </a:cubicBezTo>
                <a:cubicBezTo>
                  <a:pt x="147836" y="71438"/>
                  <a:pt x="190500" y="89198"/>
                  <a:pt x="190500" y="111125"/>
                </a:cubicBezTo>
                <a:lnTo>
                  <a:pt x="190500" y="119063"/>
                </a:lnTo>
                <a:cubicBezTo>
                  <a:pt x="190500" y="140990"/>
                  <a:pt x="147836" y="158750"/>
                  <a:pt x="95250" y="158750"/>
                </a:cubicBezTo>
                <a:cubicBezTo>
                  <a:pt x="42664" y="158750"/>
                  <a:pt x="0" y="140990"/>
                  <a:pt x="0" y="119063"/>
                </a:cubicBezTo>
                <a:close/>
                <a:moveTo>
                  <a:pt x="190500" y="166688"/>
                </a:moveTo>
                <a:cubicBezTo>
                  <a:pt x="190500" y="188615"/>
                  <a:pt x="147836" y="206375"/>
                  <a:pt x="95250" y="206375"/>
                </a:cubicBezTo>
                <a:cubicBezTo>
                  <a:pt x="42664" y="206375"/>
                  <a:pt x="0" y="188615"/>
                  <a:pt x="0" y="166688"/>
                </a:cubicBezTo>
                <a:lnTo>
                  <a:pt x="0" y="159048"/>
                </a:lnTo>
                <a:cubicBezTo>
                  <a:pt x="5755" y="163066"/>
                  <a:pt x="12154" y="166340"/>
                  <a:pt x="18752" y="169118"/>
                </a:cubicBezTo>
                <a:cubicBezTo>
                  <a:pt x="39539" y="177800"/>
                  <a:pt x="66625" y="182563"/>
                  <a:pt x="95250" y="182563"/>
                </a:cubicBezTo>
                <a:cubicBezTo>
                  <a:pt x="123875" y="182563"/>
                  <a:pt x="150961" y="177750"/>
                  <a:pt x="171748" y="169118"/>
                </a:cubicBezTo>
                <a:cubicBezTo>
                  <a:pt x="178296" y="166390"/>
                  <a:pt x="184696" y="163066"/>
                  <a:pt x="190500" y="159048"/>
                </a:cubicBezTo>
                <a:lnTo>
                  <a:pt x="190500" y="166688"/>
                </a:lnTo>
                <a:close/>
                <a:moveTo>
                  <a:pt x="190500" y="206673"/>
                </a:moveTo>
                <a:lnTo>
                  <a:pt x="190500" y="214313"/>
                </a:lnTo>
                <a:cubicBezTo>
                  <a:pt x="190500" y="236240"/>
                  <a:pt x="147836" y="254000"/>
                  <a:pt x="95250" y="254000"/>
                </a:cubicBezTo>
                <a:cubicBezTo>
                  <a:pt x="42664" y="254000"/>
                  <a:pt x="0" y="236240"/>
                  <a:pt x="0" y="214313"/>
                </a:cubicBezTo>
                <a:lnTo>
                  <a:pt x="0" y="206673"/>
                </a:lnTo>
                <a:cubicBezTo>
                  <a:pt x="5755" y="210691"/>
                  <a:pt x="12154" y="213965"/>
                  <a:pt x="18752" y="216743"/>
                </a:cubicBezTo>
                <a:cubicBezTo>
                  <a:pt x="39539" y="225425"/>
                  <a:pt x="66625" y="230188"/>
                  <a:pt x="95250" y="230188"/>
                </a:cubicBezTo>
                <a:cubicBezTo>
                  <a:pt x="123875" y="230188"/>
                  <a:pt x="150961" y="225375"/>
                  <a:pt x="171748" y="216743"/>
                </a:cubicBezTo>
                <a:cubicBezTo>
                  <a:pt x="178296" y="214015"/>
                  <a:pt x="184696" y="210691"/>
                  <a:pt x="190500" y="20667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6"/>
          <p:cNvSpPr/>
          <p:nvPr/>
        </p:nvSpPr>
        <p:spPr>
          <a:xfrm>
            <a:off x="6597650" y="35306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206325" y="104428"/>
                </a:moveTo>
                <a:cubicBezTo>
                  <a:pt x="212378" y="102791"/>
                  <a:pt x="218728" y="105668"/>
                  <a:pt x="221456" y="111274"/>
                </a:cubicBezTo>
                <a:lnTo>
                  <a:pt x="230684" y="129927"/>
                </a:lnTo>
                <a:cubicBezTo>
                  <a:pt x="235793" y="130621"/>
                  <a:pt x="240804" y="132011"/>
                  <a:pt x="245517" y="133945"/>
                </a:cubicBezTo>
                <a:lnTo>
                  <a:pt x="262880" y="122386"/>
                </a:lnTo>
                <a:cubicBezTo>
                  <a:pt x="268089" y="118914"/>
                  <a:pt x="274985" y="119608"/>
                  <a:pt x="279400" y="124023"/>
                </a:cubicBezTo>
                <a:lnTo>
                  <a:pt x="288925" y="133548"/>
                </a:lnTo>
                <a:cubicBezTo>
                  <a:pt x="293340" y="137964"/>
                  <a:pt x="294035" y="144909"/>
                  <a:pt x="290562" y="150068"/>
                </a:cubicBezTo>
                <a:lnTo>
                  <a:pt x="279003" y="167382"/>
                </a:lnTo>
                <a:cubicBezTo>
                  <a:pt x="279946" y="169714"/>
                  <a:pt x="280789" y="172145"/>
                  <a:pt x="281484" y="174675"/>
                </a:cubicBezTo>
                <a:cubicBezTo>
                  <a:pt x="282178" y="177205"/>
                  <a:pt x="282625" y="179685"/>
                  <a:pt x="282972" y="182215"/>
                </a:cubicBezTo>
                <a:lnTo>
                  <a:pt x="301675" y="191443"/>
                </a:lnTo>
                <a:cubicBezTo>
                  <a:pt x="307280" y="194221"/>
                  <a:pt x="310158" y="200571"/>
                  <a:pt x="308521" y="206573"/>
                </a:cubicBezTo>
                <a:lnTo>
                  <a:pt x="305048" y="219571"/>
                </a:lnTo>
                <a:cubicBezTo>
                  <a:pt x="303411" y="225574"/>
                  <a:pt x="297805" y="229642"/>
                  <a:pt x="291554" y="229245"/>
                </a:cubicBezTo>
                <a:lnTo>
                  <a:pt x="270718" y="227905"/>
                </a:lnTo>
                <a:cubicBezTo>
                  <a:pt x="267593" y="231924"/>
                  <a:pt x="263971" y="235645"/>
                  <a:pt x="259854" y="238820"/>
                </a:cubicBezTo>
                <a:lnTo>
                  <a:pt x="261193" y="259606"/>
                </a:lnTo>
                <a:cubicBezTo>
                  <a:pt x="261590" y="265857"/>
                  <a:pt x="257522" y="271512"/>
                  <a:pt x="251520" y="273100"/>
                </a:cubicBezTo>
                <a:lnTo>
                  <a:pt x="238522" y="276572"/>
                </a:lnTo>
                <a:cubicBezTo>
                  <a:pt x="232470" y="278209"/>
                  <a:pt x="226169" y="275332"/>
                  <a:pt x="223391" y="269726"/>
                </a:cubicBezTo>
                <a:lnTo>
                  <a:pt x="214164" y="251073"/>
                </a:lnTo>
                <a:cubicBezTo>
                  <a:pt x="209054" y="250379"/>
                  <a:pt x="204043" y="248989"/>
                  <a:pt x="199330" y="247055"/>
                </a:cubicBezTo>
                <a:lnTo>
                  <a:pt x="181967" y="258614"/>
                </a:lnTo>
                <a:cubicBezTo>
                  <a:pt x="176758" y="262086"/>
                  <a:pt x="169863" y="261392"/>
                  <a:pt x="165447" y="256977"/>
                </a:cubicBezTo>
                <a:lnTo>
                  <a:pt x="155922" y="247452"/>
                </a:lnTo>
                <a:cubicBezTo>
                  <a:pt x="151507" y="243036"/>
                  <a:pt x="150813" y="236141"/>
                  <a:pt x="154285" y="230932"/>
                </a:cubicBezTo>
                <a:lnTo>
                  <a:pt x="165844" y="213568"/>
                </a:lnTo>
                <a:cubicBezTo>
                  <a:pt x="164902" y="211237"/>
                  <a:pt x="164058" y="208806"/>
                  <a:pt x="163364" y="206276"/>
                </a:cubicBezTo>
                <a:cubicBezTo>
                  <a:pt x="162669" y="203746"/>
                  <a:pt x="162223" y="201216"/>
                  <a:pt x="161875" y="198735"/>
                </a:cubicBezTo>
                <a:lnTo>
                  <a:pt x="143173" y="189508"/>
                </a:lnTo>
                <a:cubicBezTo>
                  <a:pt x="137567" y="186730"/>
                  <a:pt x="134739" y="180380"/>
                  <a:pt x="136327" y="174377"/>
                </a:cubicBezTo>
                <a:lnTo>
                  <a:pt x="139799" y="161379"/>
                </a:lnTo>
                <a:cubicBezTo>
                  <a:pt x="141436" y="155377"/>
                  <a:pt x="147042" y="151309"/>
                  <a:pt x="153293" y="151705"/>
                </a:cubicBezTo>
                <a:lnTo>
                  <a:pt x="174079" y="153045"/>
                </a:lnTo>
                <a:cubicBezTo>
                  <a:pt x="177205" y="149027"/>
                  <a:pt x="180826" y="145306"/>
                  <a:pt x="184944" y="142131"/>
                </a:cubicBezTo>
                <a:lnTo>
                  <a:pt x="183604" y="121394"/>
                </a:lnTo>
                <a:cubicBezTo>
                  <a:pt x="183207" y="115143"/>
                  <a:pt x="187275" y="109488"/>
                  <a:pt x="193278" y="107900"/>
                </a:cubicBezTo>
                <a:lnTo>
                  <a:pt x="206276" y="104428"/>
                </a:lnTo>
                <a:close/>
                <a:moveTo>
                  <a:pt x="222448" y="168672"/>
                </a:moveTo>
                <a:cubicBezTo>
                  <a:pt x="210401" y="168686"/>
                  <a:pt x="200631" y="178478"/>
                  <a:pt x="200645" y="190525"/>
                </a:cubicBezTo>
                <a:cubicBezTo>
                  <a:pt x="200659" y="202572"/>
                  <a:pt x="210451" y="212342"/>
                  <a:pt x="222498" y="212328"/>
                </a:cubicBezTo>
                <a:cubicBezTo>
                  <a:pt x="234545" y="212314"/>
                  <a:pt x="244315" y="202522"/>
                  <a:pt x="244301" y="190475"/>
                </a:cubicBezTo>
                <a:cubicBezTo>
                  <a:pt x="244288" y="178428"/>
                  <a:pt x="234496" y="168658"/>
                  <a:pt x="222448" y="168672"/>
                </a:cubicBezTo>
                <a:close/>
                <a:moveTo>
                  <a:pt x="111571" y="-22572"/>
                </a:moveTo>
                <a:lnTo>
                  <a:pt x="124569" y="-19100"/>
                </a:lnTo>
                <a:cubicBezTo>
                  <a:pt x="130572" y="-17462"/>
                  <a:pt x="134640" y="-11807"/>
                  <a:pt x="134243" y="-5606"/>
                </a:cubicBezTo>
                <a:lnTo>
                  <a:pt x="132904" y="15131"/>
                </a:lnTo>
                <a:cubicBezTo>
                  <a:pt x="137021" y="18306"/>
                  <a:pt x="140643" y="21977"/>
                  <a:pt x="143768" y="26045"/>
                </a:cubicBezTo>
                <a:lnTo>
                  <a:pt x="164604" y="24705"/>
                </a:lnTo>
                <a:cubicBezTo>
                  <a:pt x="170805" y="24309"/>
                  <a:pt x="176461" y="28377"/>
                  <a:pt x="178098" y="34379"/>
                </a:cubicBezTo>
                <a:lnTo>
                  <a:pt x="181570" y="47377"/>
                </a:lnTo>
                <a:cubicBezTo>
                  <a:pt x="183158" y="53380"/>
                  <a:pt x="180330" y="59730"/>
                  <a:pt x="174724" y="62508"/>
                </a:cubicBezTo>
                <a:lnTo>
                  <a:pt x="156021" y="71735"/>
                </a:lnTo>
                <a:cubicBezTo>
                  <a:pt x="155674" y="74265"/>
                  <a:pt x="155178" y="76795"/>
                  <a:pt x="154533" y="79276"/>
                </a:cubicBezTo>
                <a:cubicBezTo>
                  <a:pt x="153888" y="81756"/>
                  <a:pt x="152995" y="84237"/>
                  <a:pt x="152053" y="86568"/>
                </a:cubicBezTo>
                <a:lnTo>
                  <a:pt x="163612" y="103932"/>
                </a:lnTo>
                <a:cubicBezTo>
                  <a:pt x="167084" y="109141"/>
                  <a:pt x="166390" y="116036"/>
                  <a:pt x="161975" y="120452"/>
                </a:cubicBezTo>
                <a:lnTo>
                  <a:pt x="152450" y="129977"/>
                </a:lnTo>
                <a:cubicBezTo>
                  <a:pt x="148034" y="134392"/>
                  <a:pt x="141139" y="135086"/>
                  <a:pt x="135930" y="131614"/>
                </a:cubicBezTo>
                <a:lnTo>
                  <a:pt x="118566" y="120055"/>
                </a:lnTo>
                <a:cubicBezTo>
                  <a:pt x="113854" y="121989"/>
                  <a:pt x="108843" y="123379"/>
                  <a:pt x="103733" y="124073"/>
                </a:cubicBezTo>
                <a:lnTo>
                  <a:pt x="94506" y="142726"/>
                </a:lnTo>
                <a:cubicBezTo>
                  <a:pt x="91728" y="148332"/>
                  <a:pt x="85378" y="151160"/>
                  <a:pt x="79375" y="149572"/>
                </a:cubicBezTo>
                <a:lnTo>
                  <a:pt x="66377" y="146100"/>
                </a:lnTo>
                <a:cubicBezTo>
                  <a:pt x="60325" y="144463"/>
                  <a:pt x="56307" y="138807"/>
                  <a:pt x="56704" y="132606"/>
                </a:cubicBezTo>
                <a:lnTo>
                  <a:pt x="58043" y="111820"/>
                </a:lnTo>
                <a:cubicBezTo>
                  <a:pt x="53925" y="108645"/>
                  <a:pt x="50304" y="104973"/>
                  <a:pt x="47179" y="100905"/>
                </a:cubicBezTo>
                <a:lnTo>
                  <a:pt x="26343" y="102245"/>
                </a:lnTo>
                <a:cubicBezTo>
                  <a:pt x="20141" y="102642"/>
                  <a:pt x="14486" y="98574"/>
                  <a:pt x="12849" y="92571"/>
                </a:cubicBezTo>
                <a:lnTo>
                  <a:pt x="9376" y="79573"/>
                </a:lnTo>
                <a:cubicBezTo>
                  <a:pt x="7789" y="73571"/>
                  <a:pt x="10616" y="67221"/>
                  <a:pt x="16222" y="64443"/>
                </a:cubicBezTo>
                <a:lnTo>
                  <a:pt x="34925" y="55215"/>
                </a:lnTo>
                <a:cubicBezTo>
                  <a:pt x="35272" y="52685"/>
                  <a:pt x="35768" y="50205"/>
                  <a:pt x="36413" y="47675"/>
                </a:cubicBezTo>
                <a:cubicBezTo>
                  <a:pt x="37108" y="45145"/>
                  <a:pt x="37902" y="42714"/>
                  <a:pt x="38894" y="40382"/>
                </a:cubicBezTo>
                <a:lnTo>
                  <a:pt x="27335" y="23068"/>
                </a:lnTo>
                <a:cubicBezTo>
                  <a:pt x="23862" y="17859"/>
                  <a:pt x="24557" y="10964"/>
                  <a:pt x="28972" y="6548"/>
                </a:cubicBezTo>
                <a:lnTo>
                  <a:pt x="38497" y="-2977"/>
                </a:lnTo>
                <a:cubicBezTo>
                  <a:pt x="42912" y="-7392"/>
                  <a:pt x="49808" y="-8086"/>
                  <a:pt x="55017" y="-4614"/>
                </a:cubicBezTo>
                <a:lnTo>
                  <a:pt x="72380" y="6945"/>
                </a:lnTo>
                <a:cubicBezTo>
                  <a:pt x="77093" y="5011"/>
                  <a:pt x="82104" y="3621"/>
                  <a:pt x="87213" y="2927"/>
                </a:cubicBezTo>
                <a:lnTo>
                  <a:pt x="96441" y="-15726"/>
                </a:lnTo>
                <a:cubicBezTo>
                  <a:pt x="99219" y="-21332"/>
                  <a:pt x="105519" y="-24160"/>
                  <a:pt x="111571" y="-22572"/>
                </a:cubicBezTo>
                <a:close/>
                <a:moveTo>
                  <a:pt x="95448" y="41672"/>
                </a:moveTo>
                <a:cubicBezTo>
                  <a:pt x="83401" y="41672"/>
                  <a:pt x="73620" y="51453"/>
                  <a:pt x="73620" y="63500"/>
                </a:cubicBezTo>
                <a:cubicBezTo>
                  <a:pt x="73620" y="75547"/>
                  <a:pt x="83401" y="85328"/>
                  <a:pt x="95448" y="85328"/>
                </a:cubicBezTo>
                <a:cubicBezTo>
                  <a:pt x="107496" y="85328"/>
                  <a:pt x="117277" y="75547"/>
                  <a:pt x="117277" y="63500"/>
                </a:cubicBezTo>
                <a:cubicBezTo>
                  <a:pt x="117277" y="51453"/>
                  <a:pt x="107496" y="41672"/>
                  <a:pt x="95448" y="4167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0"/>
          <p:cNvSpPr/>
          <p:nvPr/>
        </p:nvSpPr>
        <p:spPr>
          <a:xfrm>
            <a:off x="6629400" y="4546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158750"/>
                </a:moveTo>
                <a:lnTo>
                  <a:pt x="12154" y="158750"/>
                </a:lnTo>
                <a:cubicBezTo>
                  <a:pt x="-198" y="158750"/>
                  <a:pt x="-7789" y="145306"/>
                  <a:pt x="-1439" y="134689"/>
                </a:cubicBezTo>
                <a:lnTo>
                  <a:pt x="24805" y="90934"/>
                </a:lnTo>
                <a:cubicBezTo>
                  <a:pt x="29121" y="83741"/>
                  <a:pt x="36860" y="79375"/>
                  <a:pt x="45244" y="79375"/>
                </a:cubicBezTo>
                <a:lnTo>
                  <a:pt x="92373" y="79375"/>
                </a:lnTo>
                <a:cubicBezTo>
                  <a:pt x="130125" y="15429"/>
                  <a:pt x="186432" y="12204"/>
                  <a:pt x="224086" y="17711"/>
                </a:cubicBezTo>
                <a:cubicBezTo>
                  <a:pt x="230436" y="18653"/>
                  <a:pt x="235396" y="23614"/>
                  <a:pt x="236289" y="29914"/>
                </a:cubicBezTo>
                <a:cubicBezTo>
                  <a:pt x="241796" y="67568"/>
                  <a:pt x="238571" y="123875"/>
                  <a:pt x="174625" y="161627"/>
                </a:cubicBezTo>
                <a:lnTo>
                  <a:pt x="174625" y="208756"/>
                </a:lnTo>
                <a:cubicBezTo>
                  <a:pt x="174625" y="217140"/>
                  <a:pt x="170259" y="224879"/>
                  <a:pt x="163066" y="229195"/>
                </a:cubicBezTo>
                <a:lnTo>
                  <a:pt x="119311" y="255439"/>
                </a:lnTo>
                <a:cubicBezTo>
                  <a:pt x="108744" y="261789"/>
                  <a:pt x="95250" y="254149"/>
                  <a:pt x="95250" y="241846"/>
                </a:cubicBezTo>
                <a:lnTo>
                  <a:pt x="95250" y="190500"/>
                </a:lnTo>
                <a:cubicBezTo>
                  <a:pt x="95250" y="172988"/>
                  <a:pt x="81012" y="158750"/>
                  <a:pt x="63500" y="158750"/>
                </a:cubicBezTo>
                <a:lnTo>
                  <a:pt x="63450" y="158750"/>
                </a:lnTo>
                <a:close/>
                <a:moveTo>
                  <a:pt x="198438" y="79375"/>
                </a:moveTo>
                <a:cubicBezTo>
                  <a:pt x="198438" y="66233"/>
                  <a:pt x="187767" y="55563"/>
                  <a:pt x="174625" y="55563"/>
                </a:cubicBezTo>
                <a:cubicBezTo>
                  <a:pt x="161483" y="55563"/>
                  <a:pt x="150813" y="66233"/>
                  <a:pt x="150813" y="79375"/>
                </a:cubicBezTo>
                <a:cubicBezTo>
                  <a:pt x="150813" y="92517"/>
                  <a:pt x="161483" y="103188"/>
                  <a:pt x="174625" y="103188"/>
                </a:cubicBezTo>
                <a:cubicBezTo>
                  <a:pt x="187767" y="103188"/>
                  <a:pt x="198438" y="92517"/>
                  <a:pt x="198438" y="7937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1208</TotalTime>
  <Words>396</Words>
  <Application>Microsoft Office PowerPoint</Application>
  <PresentationFormat>宽屏</PresentationFormat>
  <Paragraphs>66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MiSans</vt:lpstr>
      <vt:lpstr>Noto Sans SC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RagシステムとGuacamole：関係と仕組みのご説明</dc:title>
  <dc:subject>RagシステムとGuacamole：関係と仕組みのご説明</dc:subject>
  <dc:creator>Kimi</dc:creator>
  <cp:lastModifiedBy>世杰 陳</cp:lastModifiedBy>
  <cp:revision>34</cp:revision>
  <dcterms:created xsi:type="dcterms:W3CDTF">2025-12-02T13:07:39Z</dcterms:created>
  <dcterms:modified xsi:type="dcterms:W3CDTF">2025-12-04T07:56:31Z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RagシステムとGuacamole：関係と仕組みのご説明","ContentProducer":"001191110108MACG2KBH8F10000","ProduceID":"d4ndtl53v89k6avoi7n0","ReservedCode1":"","ContentPropagator":"001191110108MACG2KBH8F20000","PropagateID":"d4ndtl53v89k6avoi7n0","ReservedCode2":""}</vt:lpwstr>
  </property>
</Properties>
</file>